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7B84344-F6C1-4EB7-8078-AD8E2F3ECD3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dt" idx="37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5"/>
          <p:cNvSpPr>
            <a:spLocks noGrp="1"/>
          </p:cNvSpPr>
          <p:nvPr>
            <p:ph type="ftr" idx="38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0" name="PlaceHolder 6"/>
          <p:cNvSpPr>
            <a:spLocks noGrp="1"/>
          </p:cNvSpPr>
          <p:nvPr>
            <p:ph type="sldNum" idx="39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 type="dt" idx="40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5"/>
          <p:cNvSpPr>
            <a:spLocks noGrp="1"/>
          </p:cNvSpPr>
          <p:nvPr>
            <p:ph type="ftr" idx="41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6" name="PlaceHolder 6"/>
          <p:cNvSpPr>
            <a:spLocks noGrp="1"/>
          </p:cNvSpPr>
          <p:nvPr>
            <p:ph type="sldNum" idx="42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dt" idx="43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ftr" idx="44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PlaceHolder 6"/>
          <p:cNvSpPr>
            <a:spLocks noGrp="1"/>
          </p:cNvSpPr>
          <p:nvPr>
            <p:ph type="sldNum" idx="45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dt" idx="46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 type="ftr" idx="47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PlaceHolder 6"/>
          <p:cNvSpPr>
            <a:spLocks noGrp="1"/>
          </p:cNvSpPr>
          <p:nvPr>
            <p:ph type="sldNum" idx="48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 type="dt" idx="49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5"/>
          <p:cNvSpPr>
            <a:spLocks noGrp="1"/>
          </p:cNvSpPr>
          <p:nvPr>
            <p:ph type="ftr" idx="50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4" name="PlaceHolder 6"/>
          <p:cNvSpPr>
            <a:spLocks noGrp="1"/>
          </p:cNvSpPr>
          <p:nvPr>
            <p:ph type="sldNum" idx="51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dt" idx="52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 type="ftr" idx="53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0" name="PlaceHolder 6"/>
          <p:cNvSpPr>
            <a:spLocks noGrp="1"/>
          </p:cNvSpPr>
          <p:nvPr>
            <p:ph type="sldNum" idx="54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dt" idx="55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7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 type="ftr" idx="56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6"/>
          <p:cNvSpPr>
            <a:spLocks noGrp="1"/>
          </p:cNvSpPr>
          <p:nvPr>
            <p:ph type="sldNum" idx="57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dt" idx="58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8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ftr" idx="59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PlaceHolder 6"/>
          <p:cNvSpPr>
            <a:spLocks noGrp="1"/>
          </p:cNvSpPr>
          <p:nvPr>
            <p:ph type="sldNum" idx="60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200" spc="-1" strike="noStrike">
              <a:solidFill>
                <a:schemeClr val="dk1"/>
              </a:solidFill>
              <a:latin typeface="+mn-lt"/>
              <a:ea typeface="+mn-ea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dt" idx="61"/>
          </p:nvPr>
        </p:nvSpPr>
        <p:spPr>
          <a:xfrm>
            <a:off x="5180040" y="0"/>
            <a:ext cx="3962160" cy="3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1.7.2013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Img"/>
          </p:nvPr>
        </p:nvSpPr>
        <p:spPr>
          <a:xfrm>
            <a:off x="2857680" y="512640"/>
            <a:ext cx="3428640" cy="256680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4"/>
          <p:cNvSpPr>
            <a:spLocks noGrp="1"/>
          </p:cNvSpPr>
          <p:nvPr>
            <p:ph type="body"/>
          </p:nvPr>
        </p:nvSpPr>
        <p:spPr>
          <a:xfrm>
            <a:off x="914400" y="3251160"/>
            <a:ext cx="7314840" cy="308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9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5"/>
          <p:cNvSpPr>
            <a:spLocks noGrp="1"/>
          </p:cNvSpPr>
          <p:nvPr>
            <p:ph type="ftr" idx="62"/>
          </p:nvPr>
        </p:nvSpPr>
        <p:spPr>
          <a:xfrm>
            <a:off x="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PlaceHolder 6"/>
          <p:cNvSpPr>
            <a:spLocks noGrp="1"/>
          </p:cNvSpPr>
          <p:nvPr>
            <p:ph type="sldNum" idx="63"/>
          </p:nvPr>
        </p:nvSpPr>
        <p:spPr>
          <a:xfrm>
            <a:off x="5180040" y="6502320"/>
            <a:ext cx="3962160" cy="34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‹</a:t>
            </a:r>
            <a:r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#›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D5B4C3-DFC2-47E9-8CF9-1DE6BCCB39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FAD48D-C29A-436A-AFD5-628D6748B2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44AAF22-2D77-4E01-AB35-C98917A12E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0C5B6BF-0BD4-491A-8183-E80BFF6B6D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83290CBC-CE66-477E-B799-64FE06B687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ECC4090-D42F-42E5-856D-44BD36B00E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159B673-2FF5-4BF6-B3B3-BBB0FED4D77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10E7689-0985-445F-8313-A1DBD9E855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6F08B1E-E90D-4E34-8451-464158A3B6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EE6D9CC-63F1-4564-A111-133210624F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184BD67-098F-4202-A5F0-26E70D9E5F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00E5E6-0C08-497A-B091-F25AFC9D08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B979E0-79E6-42C7-BEBF-FBE2A2FF989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7011B1-1224-4923-96EF-EDA59804554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52A4D4-FAB1-4B79-B98B-51D4E6080A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81EB3B-ABAF-4F7C-A575-1B3E3CDDD07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009DFD-21F9-4358-9067-77321F918B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12D726-5910-409C-8864-E7D5B58CC0D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250D3B-A681-4C75-875B-F6CC00DC153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6F45C0-8F30-4E82-98E4-ABCE3B5BA42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9178F9-A606-4ADF-8029-1838DBA82BB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2D418B-4655-433E-AF5F-55C0C1789EB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74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75" name="Group 4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76" name="Freeform 5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77" name="TextBox 6"/>
          <p:cNvSpPr/>
          <p:nvPr/>
        </p:nvSpPr>
        <p:spPr>
          <a:xfrm>
            <a:off x="992160" y="2769840"/>
            <a:ext cx="7088040" cy="87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900"/>
              </a:lnSpc>
            </a:pPr>
            <a:r>
              <a:rPr b="0" lang="en-US" sz="5500" spc="-1" strike="noStrike">
                <a:solidFill>
                  <a:srgbClr val="76b9ff"/>
                </a:solidFill>
                <a:latin typeface="Roboto Slab"/>
                <a:ea typeface="Roboto Slab"/>
              </a:rPr>
              <a:t>SegWrap</a:t>
            </a:r>
            <a:endParaRPr b="0" lang="en-US" sz="5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7"/>
          <p:cNvSpPr/>
          <p:nvPr/>
        </p:nvSpPr>
        <p:spPr>
          <a:xfrm>
            <a:off x="992160" y="4024080"/>
            <a:ext cx="1630332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1" lang="en-US" sz="2200" spc="-1" strike="noStrike">
                <a:solidFill>
                  <a:srgbClr val="d6e5ef"/>
                </a:solidFill>
                <a:latin typeface="Roboto Bold"/>
                <a:ea typeface="Roboto Bold"/>
              </a:rPr>
              <a:t>Problem:</a:t>
            </a: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 Traditional video object segmentation struggles to maintain temporal consistency.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8"/>
          <p:cNvSpPr/>
          <p:nvPr/>
        </p:nvSpPr>
        <p:spPr>
          <a:xfrm>
            <a:off x="992160" y="4796640"/>
            <a:ext cx="1630332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1" lang="en-US" sz="2200" spc="-1" strike="noStrike">
                <a:solidFill>
                  <a:srgbClr val="d6e5ef"/>
                </a:solidFill>
                <a:latin typeface="Roboto Bold"/>
                <a:ea typeface="Roboto Bold"/>
              </a:rPr>
              <a:t>Approach:</a:t>
            </a: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 We use diffusion models to iteratively refine segmentation masks from input iframes.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9"/>
          <p:cNvSpPr/>
          <p:nvPr/>
        </p:nvSpPr>
        <p:spPr>
          <a:xfrm>
            <a:off x="992160" y="5569200"/>
            <a:ext cx="1630332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1" lang="en-US" sz="2200" spc="-1" strike="noStrike">
                <a:solidFill>
                  <a:srgbClr val="d6e5ef"/>
                </a:solidFill>
                <a:latin typeface="Roboto Bold"/>
                <a:ea typeface="Roboto Bold"/>
              </a:rPr>
              <a:t>Motivation:</a:t>
            </a: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 While Diffusion Models have set new benchmarks in image segmentation, their potential in Video Object Segmentation remains largely under-explored.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501"/>
              </a:lnSpc>
            </a:pPr>
            <a:r>
              <a:rPr b="1" lang="en-US" sz="2200" spc="-1" strike="noStrike">
                <a:solidFill>
                  <a:srgbClr val="d6e5ef"/>
                </a:solidFill>
                <a:latin typeface="Roboto Bold"/>
                <a:ea typeface="Roboto Bold"/>
              </a:rPr>
              <a:t>Key References:</a:t>
            </a: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 CoVOS [2022] &amp; SegDiff [2021]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82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83" name="Group 4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84" name="Freeform 5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5" name="TextBox 6"/>
          <p:cNvSpPr/>
          <p:nvPr/>
        </p:nvSpPr>
        <p:spPr>
          <a:xfrm>
            <a:off x="852840" y="690840"/>
            <a:ext cx="117021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99"/>
              </a:lnSpc>
            </a:pPr>
            <a:r>
              <a:rPr b="0" lang="en-US" sz="4700" spc="-1" strike="noStrike">
                <a:solidFill>
                  <a:srgbClr val="76b9ff"/>
                </a:solidFill>
                <a:latin typeface="Roboto Slab"/>
                <a:ea typeface="Roboto Slab"/>
              </a:rPr>
              <a:t>CoVOS Foundation: I-Frames &amp; B-Frames</a:t>
            </a:r>
            <a:endParaRPr b="0" lang="en-US" sz="4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7"/>
          <p:cNvSpPr/>
          <p:nvPr/>
        </p:nvSpPr>
        <p:spPr>
          <a:xfrm>
            <a:off x="852840" y="1823040"/>
            <a:ext cx="165819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801"/>
              </a:lnSpc>
            </a:pPr>
            <a:r>
              <a:rPr b="1" lang="en-US" sz="1900" spc="-1" strike="noStrike">
                <a:solidFill>
                  <a:srgbClr val="d6e5ef"/>
                </a:solidFill>
                <a:latin typeface="Roboto Bold"/>
                <a:ea typeface="Roboto Bold"/>
              </a:rPr>
              <a:t>Core Insight:</a:t>
            </a:r>
            <a:r>
              <a:rPr b="0" lang="en-US" sz="1900" spc="-1" strike="noStrike">
                <a:solidFill>
                  <a:srgbClr val="d6e5ef"/>
                </a:solidFill>
                <a:latin typeface="Roboto"/>
                <a:ea typeface="Roboto"/>
              </a:rPr>
              <a:t> Video codecs already compute motion. CoVOS exploits this to avoid redundant computation.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852840" y="2556720"/>
            <a:ext cx="304524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00"/>
              </a:lnSpc>
            </a:pPr>
            <a:r>
              <a:rPr b="0" lang="en-US" sz="2300" spc="-1" strike="noStrike">
                <a:solidFill>
                  <a:srgbClr val="76b9ff"/>
                </a:solidFill>
                <a:latin typeface="Roboto Slab"/>
                <a:ea typeface="Roboto Slab"/>
              </a:rPr>
              <a:t>I-Frame (Keyframe)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9"/>
          <p:cNvSpPr/>
          <p:nvPr/>
        </p:nvSpPr>
        <p:spPr>
          <a:xfrm>
            <a:off x="852840" y="3194280"/>
            <a:ext cx="16581960" cy="10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58640" indent="-229320" defTabSz="914400">
              <a:lnSpc>
                <a:spcPts val="2801"/>
              </a:lnSpc>
              <a:buClr>
                <a:srgbClr val="d6e5ef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d6e5ef"/>
                </a:solidFill>
                <a:latin typeface="Roboto"/>
                <a:ea typeface="Roboto"/>
              </a:rPr>
              <a:t>Complete image 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458640" indent="-229320" defTabSz="914400">
              <a:lnSpc>
                <a:spcPts val="2801"/>
              </a:lnSpc>
              <a:buClr>
                <a:srgbClr val="d6e5ef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d6e5ef"/>
                </a:solidFill>
                <a:latin typeface="Roboto"/>
                <a:ea typeface="Roboto"/>
              </a:rPr>
              <a:t>Large architecture (~122M parameters)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458640" indent="-229320" defTabSz="914400">
              <a:lnSpc>
                <a:spcPts val="2801"/>
              </a:lnSpc>
              <a:buClr>
                <a:srgbClr val="d6e5ef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d6e5ef"/>
                </a:solidFill>
                <a:latin typeface="Roboto"/>
                <a:ea typeface="Roboto"/>
              </a:rPr>
              <a:t>Output: initial mask from full 100-step reverse diffusion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852840" y="4663440"/>
            <a:ext cx="16581960" cy="35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801"/>
              </a:lnSpc>
            </a:pPr>
            <a:r>
              <a:rPr b="0" lang="en-US" sz="1900" spc="-1" strike="noStrike">
                <a:solidFill>
                  <a:srgbClr val="d6e5ef"/>
                </a:solidFill>
                <a:latin typeface="Roboto"/>
                <a:ea typeface="Roboto"/>
              </a:rPr>
              <a:t>Both models use Mean Squared Error (MSE) loss, optimized for different regions of the diffusion process.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11"/>
          <p:cNvSpPr/>
          <p:nvPr/>
        </p:nvSpPr>
        <p:spPr>
          <a:xfrm>
            <a:off x="852840" y="5387400"/>
            <a:ext cx="609120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899"/>
              </a:lnSpc>
            </a:pPr>
            <a:r>
              <a:rPr b="0" lang="en-US" sz="4700" spc="-1" strike="noStrike">
                <a:solidFill>
                  <a:srgbClr val="76b9ff"/>
                </a:solidFill>
                <a:latin typeface="Roboto Slab"/>
                <a:ea typeface="Roboto Slab"/>
              </a:rPr>
              <a:t>B-Frame  </a:t>
            </a:r>
            <a:endParaRPr b="0" lang="en-US" sz="4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12"/>
          <p:cNvSpPr/>
          <p:nvPr/>
        </p:nvSpPr>
        <p:spPr>
          <a:xfrm>
            <a:off x="852840" y="6415200"/>
            <a:ext cx="16581960" cy="142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lvl="1" marL="458640" indent="-229320" defTabSz="914400">
              <a:lnSpc>
                <a:spcPts val="2801"/>
              </a:lnSpc>
              <a:buClr>
                <a:srgbClr val="d6e5ef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d6e5ef"/>
                </a:solidFill>
                <a:latin typeface="Roboto"/>
                <a:ea typeface="Roboto"/>
              </a:rPr>
              <a:t>Stores only motion vectors (move pixels left/right)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458640" indent="-229320" defTabSz="914400">
              <a:lnSpc>
                <a:spcPts val="2801"/>
              </a:lnSpc>
              <a:buClr>
                <a:srgbClr val="d6e5ef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d6e5ef"/>
                </a:solidFill>
                <a:latin typeface="Roboto"/>
                <a:ea typeface="Roboto"/>
              </a:rPr>
              <a:t>Lightweight architecture (~25M parameters)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458640" indent="-229320" defTabSz="914400">
              <a:lnSpc>
                <a:spcPts val="2801"/>
              </a:lnSpc>
              <a:buClr>
                <a:srgbClr val="d6e5ef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d6e5ef"/>
                </a:solidFill>
                <a:latin typeface="Roboto"/>
                <a:ea typeface="Roboto"/>
              </a:rPr>
              <a:t>Predictor: Warp mask using free motion vectors: </a:t>
            </a:r>
            <a:r>
              <a:rPr b="0" i="1" lang="en-US" sz="1900" spc="-1" strike="noStrike">
                <a:solidFill>
                  <a:srgbClr val="d6e5ef"/>
                </a:solidFill>
                <a:latin typeface="Roboto Italics"/>
                <a:ea typeface="Roboto Italics"/>
              </a:rPr>
              <a:t>\hat{P}_i = \mathrm{Warp}(P_{i-1}, MV_{i-1\to i})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458640" indent="-229320" defTabSz="914400">
              <a:lnSpc>
                <a:spcPts val="2801"/>
              </a:lnSpc>
              <a:buClr>
                <a:srgbClr val="d6e5ef"/>
              </a:buClr>
              <a:buFont typeface="Arial"/>
              <a:buChar char="•"/>
            </a:pPr>
            <a:r>
              <a:rPr b="0" lang="en-US" sz="1900" spc="-1" strike="noStrike">
                <a:solidFill>
                  <a:srgbClr val="d6e5ef"/>
                </a:solidFill>
                <a:latin typeface="Roboto"/>
                <a:ea typeface="Roboto"/>
              </a:rPr>
              <a:t>Corrector: Light model snaps to true boundaries: </a:t>
            </a:r>
            <a:r>
              <a:rPr b="0" i="1" lang="en-US" sz="1900" spc="-1" strike="noStrike">
                <a:solidFill>
                  <a:srgbClr val="d6e5ef"/>
                </a:solidFill>
                <a:latin typeface="Roboto Italics"/>
                <a:ea typeface="Roboto Italics"/>
              </a:rPr>
              <a:t>P_i = \theta_{\text{light}}(\hat{P}_i, F_i)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13"/>
          <p:cNvSpPr/>
          <p:nvPr/>
        </p:nvSpPr>
        <p:spPr>
          <a:xfrm>
            <a:off x="852840" y="8455680"/>
            <a:ext cx="304524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2900"/>
              </a:lnSpc>
            </a:pPr>
            <a:r>
              <a:rPr b="0" lang="en-US" sz="2300" spc="-1" strike="noStrike">
                <a:solidFill>
                  <a:srgbClr val="76b9ff"/>
                </a:solidFill>
                <a:latin typeface="Roboto Slab"/>
                <a:ea typeface="Roboto Slab"/>
              </a:rPr>
              <a:t>Sequence &amp; Output</a:t>
            </a:r>
            <a:endParaRPr b="0" lang="en-US" sz="23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3" name="Group 14"/>
          <p:cNvGrpSpPr/>
          <p:nvPr/>
        </p:nvGrpSpPr>
        <p:grpSpPr>
          <a:xfrm>
            <a:off x="852840" y="9159840"/>
            <a:ext cx="16581960" cy="416880"/>
            <a:chOff x="852840" y="9159840"/>
            <a:chExt cx="16581960" cy="416880"/>
          </a:xfrm>
        </p:grpSpPr>
        <p:sp>
          <p:nvSpPr>
            <p:cNvPr id="94" name="Freeform 15"/>
            <p:cNvSpPr/>
            <p:nvPr/>
          </p:nvSpPr>
          <p:spPr>
            <a:xfrm>
              <a:off x="852840" y="9159840"/>
              <a:ext cx="16581960" cy="416880"/>
            </a:xfrm>
            <a:custGeom>
              <a:avLst/>
              <a:gdLst>
                <a:gd name="textAreaLeft" fmla="*/ 0 w 16581960"/>
                <a:gd name="textAreaRight" fmla="*/ 16582320 w 16581960"/>
                <a:gd name="textAreaTop" fmla="*/ 0 h 416880"/>
                <a:gd name="textAreaBottom" fmla="*/ 417240 h 416880"/>
              </a:gdLst>
              <a:ahLst/>
              <a:rect l="textAreaLeft" t="textAreaTop" r="textAreaRight" b="textAreaBottom"/>
              <a:pathLst>
                <a:path w="22109937" h="556387">
                  <a:moveTo>
                    <a:pt x="0" y="0"/>
                  </a:moveTo>
                  <a:lnTo>
                    <a:pt x="22109937" y="0"/>
                  </a:lnTo>
                  <a:lnTo>
                    <a:pt x="22109937" y="556387"/>
                  </a:lnTo>
                  <a:lnTo>
                    <a:pt x="0" y="55638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96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7" name="Group 4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98" name="Freeform 5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99" name="TextBox 6"/>
          <p:cNvSpPr/>
          <p:nvPr/>
        </p:nvSpPr>
        <p:spPr>
          <a:xfrm>
            <a:off x="992160" y="1329120"/>
            <a:ext cx="4252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99"/>
              </a:lnSpc>
            </a:pPr>
            <a:r>
              <a:rPr b="0" lang="en-US" sz="3300" spc="-1" strike="noStrike">
                <a:solidFill>
                  <a:srgbClr val="76b9ff"/>
                </a:solidFill>
                <a:latin typeface="Roboto Slab"/>
                <a:ea typeface="Roboto Slab"/>
              </a:rPr>
              <a:t>SegDiff Architecture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0" name="Group 7"/>
          <p:cNvGrpSpPr/>
          <p:nvPr/>
        </p:nvGrpSpPr>
        <p:grpSpPr>
          <a:xfrm>
            <a:off x="992160" y="2437200"/>
            <a:ext cx="16303320" cy="6510600"/>
            <a:chOff x="992160" y="2437200"/>
            <a:chExt cx="16303320" cy="6510600"/>
          </a:xfrm>
        </p:grpSpPr>
        <p:sp>
          <p:nvSpPr>
            <p:cNvPr id="101" name="Freeform 8"/>
            <p:cNvSpPr/>
            <p:nvPr/>
          </p:nvSpPr>
          <p:spPr>
            <a:xfrm>
              <a:off x="992160" y="2437200"/>
              <a:ext cx="16303320" cy="6510600"/>
            </a:xfrm>
            <a:custGeom>
              <a:avLst/>
              <a:gdLst>
                <a:gd name="textAreaLeft" fmla="*/ 0 w 16303320"/>
                <a:gd name="textAreaRight" fmla="*/ 16303680 w 16303320"/>
                <a:gd name="textAreaTop" fmla="*/ 0 h 6510600"/>
                <a:gd name="textAreaBottom" fmla="*/ 6510960 h 6510600"/>
              </a:gdLst>
              <a:ahLst/>
              <a:rect l="textAreaLeft" t="textAreaTop" r="textAreaRight" b="textAreaBottom"/>
              <a:pathLst>
                <a:path w="21738082" h="8681212">
                  <a:moveTo>
                    <a:pt x="0" y="0"/>
                  </a:moveTo>
                  <a:lnTo>
                    <a:pt x="21738082" y="0"/>
                  </a:lnTo>
                  <a:lnTo>
                    <a:pt x="21738082" y="8681212"/>
                  </a:lnTo>
                  <a:lnTo>
                    <a:pt x="0" y="8681212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03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04" name="Group 4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05" name="Freeform 5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06" name="TextBox 6"/>
          <p:cNvSpPr/>
          <p:nvPr/>
        </p:nvSpPr>
        <p:spPr>
          <a:xfrm>
            <a:off x="883800" y="708480"/>
            <a:ext cx="3975120" cy="4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699"/>
              </a:lnSpc>
            </a:pPr>
            <a:r>
              <a:rPr b="0" lang="en-US" sz="2900" spc="-1" strike="noStrike">
                <a:solidFill>
                  <a:srgbClr val="76b9ff"/>
                </a:solidFill>
                <a:latin typeface="Roboto Slab"/>
                <a:ea typeface="Roboto Slab"/>
              </a:rPr>
              <a:t>SegWrap</a:t>
            </a:r>
            <a:r>
              <a:rPr b="1" lang="en-US" sz="2900" spc="-1" strike="noStrike">
                <a:solidFill>
                  <a:srgbClr val="76b9ff"/>
                </a:solidFill>
                <a:latin typeface="Roboto Slab Bold"/>
                <a:ea typeface="Roboto Slab Bold"/>
              </a:rPr>
              <a:t> Architecture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07" name="Group 7"/>
          <p:cNvGrpSpPr/>
          <p:nvPr/>
        </p:nvGrpSpPr>
        <p:grpSpPr>
          <a:xfrm>
            <a:off x="883800" y="1660320"/>
            <a:ext cx="14088240" cy="7889040"/>
            <a:chOff x="883800" y="1660320"/>
            <a:chExt cx="14088240" cy="7889040"/>
          </a:xfrm>
        </p:grpSpPr>
        <p:sp>
          <p:nvSpPr>
            <p:cNvPr id="108" name="Freeform 8"/>
            <p:cNvSpPr/>
            <p:nvPr/>
          </p:nvSpPr>
          <p:spPr>
            <a:xfrm>
              <a:off x="883800" y="1660320"/>
              <a:ext cx="14088240" cy="7889040"/>
            </a:xfrm>
            <a:custGeom>
              <a:avLst/>
              <a:gdLst>
                <a:gd name="textAreaLeft" fmla="*/ 0 w 14088240"/>
                <a:gd name="textAreaRight" fmla="*/ 14088600 w 14088240"/>
                <a:gd name="textAreaTop" fmla="*/ 0 h 7889040"/>
                <a:gd name="textAreaBottom" fmla="*/ 7889400 h 7889040"/>
              </a:gdLst>
              <a:ahLst/>
              <a:rect l="textAreaLeft" t="textAreaTop" r="textAreaRight" b="textAreaBottom"/>
              <a:pathLst>
                <a:path w="18784951" h="10519410">
                  <a:moveTo>
                    <a:pt x="0" y="0"/>
                  </a:moveTo>
                  <a:lnTo>
                    <a:pt x="18784951" y="0"/>
                  </a:lnTo>
                  <a:lnTo>
                    <a:pt x="18784951" y="10519410"/>
                  </a:lnTo>
                  <a:lnTo>
                    <a:pt x="0" y="1051941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10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11" name="Group 4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12" name="Freeform 5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3" name="TextBox 6"/>
          <p:cNvSpPr/>
          <p:nvPr/>
        </p:nvSpPr>
        <p:spPr>
          <a:xfrm>
            <a:off x="992160" y="3027240"/>
            <a:ext cx="1630332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Initial Dataset Exploration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weights of the Segdiff model were not available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4" name="Group 7"/>
          <p:cNvGrpSpPr/>
          <p:nvPr/>
        </p:nvGrpSpPr>
        <p:grpSpPr>
          <a:xfrm>
            <a:off x="973080" y="4329720"/>
            <a:ext cx="3900960" cy="3108600"/>
            <a:chOff x="973080" y="4329720"/>
            <a:chExt cx="3900960" cy="3108600"/>
          </a:xfrm>
        </p:grpSpPr>
        <p:sp>
          <p:nvSpPr>
            <p:cNvPr id="115" name="Freeform 8"/>
            <p:cNvSpPr/>
            <p:nvPr/>
          </p:nvSpPr>
          <p:spPr>
            <a:xfrm>
              <a:off x="992160" y="4348800"/>
              <a:ext cx="3862800" cy="3070440"/>
            </a:xfrm>
            <a:custGeom>
              <a:avLst/>
              <a:gdLst>
                <a:gd name="textAreaLeft" fmla="*/ 0 w 3862800"/>
                <a:gd name="textAreaRight" fmla="*/ 3863160 w 3862800"/>
                <a:gd name="textAreaTop" fmla="*/ 0 h 3070440"/>
                <a:gd name="textAreaBottom" fmla="*/ 3070800 h 3070440"/>
              </a:gdLst>
              <a:ahLst/>
              <a:rect l="textAreaLeft" t="textAreaTop" r="textAreaRight" b="textAreaBottom"/>
              <a:pathLst>
                <a:path w="5150866" h="4094480">
                  <a:moveTo>
                    <a:pt x="0" y="56769"/>
                  </a:moveTo>
                  <a:cubicBezTo>
                    <a:pt x="0" y="25400"/>
                    <a:pt x="25400" y="0"/>
                    <a:pt x="56896" y="0"/>
                  </a:cubicBezTo>
                  <a:lnTo>
                    <a:pt x="5093970" y="0"/>
                  </a:lnTo>
                  <a:cubicBezTo>
                    <a:pt x="5125339" y="0"/>
                    <a:pt x="5150866" y="25400"/>
                    <a:pt x="5150866" y="56769"/>
                  </a:cubicBezTo>
                  <a:lnTo>
                    <a:pt x="5150866" y="4037711"/>
                  </a:lnTo>
                  <a:cubicBezTo>
                    <a:pt x="5150866" y="4069080"/>
                    <a:pt x="5125466" y="4094480"/>
                    <a:pt x="5093970" y="4094480"/>
                  </a:cubicBezTo>
                  <a:lnTo>
                    <a:pt x="56896" y="4094480"/>
                  </a:lnTo>
                  <a:cubicBezTo>
                    <a:pt x="25527" y="4094480"/>
                    <a:pt x="0" y="4069080"/>
                    <a:pt x="0" y="4037711"/>
                  </a:cubicBezTo>
                  <a:close/>
                </a:path>
              </a:pathLst>
            </a:custGeom>
            <a:solidFill>
              <a:srgbClr val="202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6" name="Freeform 9"/>
            <p:cNvSpPr/>
            <p:nvPr/>
          </p:nvSpPr>
          <p:spPr>
            <a:xfrm>
              <a:off x="973080" y="4329720"/>
              <a:ext cx="3900960" cy="3108600"/>
            </a:xfrm>
            <a:custGeom>
              <a:avLst/>
              <a:gdLst>
                <a:gd name="textAreaLeft" fmla="*/ 0 w 3900960"/>
                <a:gd name="textAreaRight" fmla="*/ 3901320 w 3900960"/>
                <a:gd name="textAreaTop" fmla="*/ 0 h 3108600"/>
                <a:gd name="textAreaBottom" fmla="*/ 3108960 h 3108600"/>
              </a:gdLst>
              <a:ahLst/>
              <a:rect l="textAreaLeft" t="textAreaTop" r="textAreaRight" b="textAreaBottom"/>
              <a:pathLst>
                <a:path w="5201666" h="4145280">
                  <a:moveTo>
                    <a:pt x="0" y="82169"/>
                  </a:moveTo>
                  <a:cubicBezTo>
                    <a:pt x="0" y="36703"/>
                    <a:pt x="36830" y="0"/>
                    <a:pt x="82296" y="0"/>
                  </a:cubicBezTo>
                  <a:lnTo>
                    <a:pt x="5119370" y="0"/>
                  </a:lnTo>
                  <a:lnTo>
                    <a:pt x="5119370" y="25400"/>
                  </a:lnTo>
                  <a:lnTo>
                    <a:pt x="5119370" y="0"/>
                  </a:lnTo>
                  <a:cubicBezTo>
                    <a:pt x="5164709" y="0"/>
                    <a:pt x="5201666" y="36703"/>
                    <a:pt x="5201666" y="82169"/>
                  </a:cubicBezTo>
                  <a:lnTo>
                    <a:pt x="5176266" y="82169"/>
                  </a:lnTo>
                  <a:lnTo>
                    <a:pt x="5201666" y="82169"/>
                  </a:lnTo>
                  <a:lnTo>
                    <a:pt x="5201666" y="4063111"/>
                  </a:lnTo>
                  <a:lnTo>
                    <a:pt x="5176266" y="4063111"/>
                  </a:lnTo>
                  <a:lnTo>
                    <a:pt x="5201666" y="4063111"/>
                  </a:lnTo>
                  <a:cubicBezTo>
                    <a:pt x="5201666" y="4108577"/>
                    <a:pt x="5164836" y="4145280"/>
                    <a:pt x="5119370" y="4145280"/>
                  </a:cubicBezTo>
                  <a:lnTo>
                    <a:pt x="5119370" y="4119880"/>
                  </a:lnTo>
                  <a:lnTo>
                    <a:pt x="5119370" y="4145280"/>
                  </a:lnTo>
                  <a:lnTo>
                    <a:pt x="82296" y="4145280"/>
                  </a:lnTo>
                  <a:lnTo>
                    <a:pt x="82296" y="4119880"/>
                  </a:lnTo>
                  <a:lnTo>
                    <a:pt x="82296" y="4145280"/>
                  </a:lnTo>
                  <a:cubicBezTo>
                    <a:pt x="36830" y="4145153"/>
                    <a:pt x="0" y="4108450"/>
                    <a:pt x="0" y="4063111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4063111"/>
                  </a:lnTo>
                  <a:lnTo>
                    <a:pt x="25400" y="4063111"/>
                  </a:lnTo>
                  <a:lnTo>
                    <a:pt x="50800" y="4063111"/>
                  </a:lnTo>
                  <a:cubicBezTo>
                    <a:pt x="50800" y="4080383"/>
                    <a:pt x="64770" y="4094480"/>
                    <a:pt x="82296" y="4094480"/>
                  </a:cubicBezTo>
                  <a:lnTo>
                    <a:pt x="5119370" y="4094480"/>
                  </a:lnTo>
                  <a:cubicBezTo>
                    <a:pt x="5136769" y="4094480"/>
                    <a:pt x="5150866" y="4080383"/>
                    <a:pt x="5150866" y="4063111"/>
                  </a:cubicBezTo>
                  <a:lnTo>
                    <a:pt x="5150866" y="82169"/>
                  </a:lnTo>
                  <a:cubicBezTo>
                    <a:pt x="5150866" y="64897"/>
                    <a:pt x="5136896" y="50800"/>
                    <a:pt x="5119370" y="50800"/>
                  </a:cubicBezTo>
                  <a:lnTo>
                    <a:pt x="82296" y="50800"/>
                  </a:lnTo>
                  <a:lnTo>
                    <a:pt x="82296" y="25400"/>
                  </a:lnTo>
                  <a:lnTo>
                    <a:pt x="82296" y="50800"/>
                  </a:lnTo>
                  <a:cubicBezTo>
                    <a:pt x="64770" y="50800"/>
                    <a:pt x="50800" y="64897"/>
                    <a:pt x="50800" y="82169"/>
                  </a:cubicBezTo>
                  <a:close/>
                </a:path>
              </a:pathLst>
            </a:custGeom>
            <a:solidFill>
              <a:srgbClr val="585f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7" name="TextBox 10"/>
          <p:cNvSpPr/>
          <p:nvPr/>
        </p:nvSpPr>
        <p:spPr>
          <a:xfrm>
            <a:off x="1314000" y="4660920"/>
            <a:ext cx="321948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700" spc="-1" strike="noStrike">
                <a:solidFill>
                  <a:srgbClr val="d6e5ef"/>
                </a:solidFill>
                <a:latin typeface="Roboto Slab"/>
                <a:ea typeface="Roboto Slab"/>
              </a:rPr>
              <a:t>Vaihingen &amp; MoNuSeg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11"/>
          <p:cNvSpPr/>
          <p:nvPr/>
        </p:nvSpPr>
        <p:spPr>
          <a:xfrm>
            <a:off x="1314000" y="5631120"/>
            <a:ext cx="321948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Static image datasets, but no video context.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9" name="Group 12"/>
          <p:cNvGrpSpPr/>
          <p:nvPr/>
        </p:nvGrpSpPr>
        <p:grpSpPr>
          <a:xfrm>
            <a:off x="5119920" y="4329720"/>
            <a:ext cx="3900960" cy="3108600"/>
            <a:chOff x="5119920" y="4329720"/>
            <a:chExt cx="3900960" cy="3108600"/>
          </a:xfrm>
        </p:grpSpPr>
        <p:sp>
          <p:nvSpPr>
            <p:cNvPr id="120" name="Freeform 13"/>
            <p:cNvSpPr/>
            <p:nvPr/>
          </p:nvSpPr>
          <p:spPr>
            <a:xfrm>
              <a:off x="5139000" y="4348800"/>
              <a:ext cx="3863160" cy="3070440"/>
            </a:xfrm>
            <a:custGeom>
              <a:avLst/>
              <a:gdLst>
                <a:gd name="textAreaLeft" fmla="*/ 0 w 3863160"/>
                <a:gd name="textAreaRight" fmla="*/ 3863520 w 3863160"/>
                <a:gd name="textAreaTop" fmla="*/ 0 h 3070440"/>
                <a:gd name="textAreaBottom" fmla="*/ 3070800 h 3070440"/>
              </a:gdLst>
              <a:ahLst/>
              <a:rect l="textAreaLeft" t="textAreaTop" r="textAreaRight" b="textAreaBottom"/>
              <a:pathLst>
                <a:path w="5151120" h="4094480">
                  <a:moveTo>
                    <a:pt x="0" y="56769"/>
                  </a:moveTo>
                  <a:cubicBezTo>
                    <a:pt x="0" y="25400"/>
                    <a:pt x="25400" y="0"/>
                    <a:pt x="56896" y="0"/>
                  </a:cubicBezTo>
                  <a:lnTo>
                    <a:pt x="5094224" y="0"/>
                  </a:lnTo>
                  <a:cubicBezTo>
                    <a:pt x="5125593" y="0"/>
                    <a:pt x="5151120" y="25400"/>
                    <a:pt x="5151120" y="56769"/>
                  </a:cubicBezTo>
                  <a:lnTo>
                    <a:pt x="5151120" y="4037711"/>
                  </a:lnTo>
                  <a:cubicBezTo>
                    <a:pt x="5151120" y="4069080"/>
                    <a:pt x="5125720" y="4094480"/>
                    <a:pt x="5094224" y="4094480"/>
                  </a:cubicBezTo>
                  <a:lnTo>
                    <a:pt x="56896" y="4094480"/>
                  </a:lnTo>
                  <a:cubicBezTo>
                    <a:pt x="25527" y="4094480"/>
                    <a:pt x="0" y="4069080"/>
                    <a:pt x="0" y="4037711"/>
                  </a:cubicBezTo>
                  <a:close/>
                </a:path>
              </a:pathLst>
            </a:custGeom>
            <a:solidFill>
              <a:srgbClr val="202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1" name="Freeform 14"/>
            <p:cNvSpPr/>
            <p:nvPr/>
          </p:nvSpPr>
          <p:spPr>
            <a:xfrm>
              <a:off x="5119920" y="4329720"/>
              <a:ext cx="3900960" cy="3108600"/>
            </a:xfrm>
            <a:custGeom>
              <a:avLst/>
              <a:gdLst>
                <a:gd name="textAreaLeft" fmla="*/ 0 w 3900960"/>
                <a:gd name="textAreaRight" fmla="*/ 3901320 w 3900960"/>
                <a:gd name="textAreaTop" fmla="*/ 0 h 3108600"/>
                <a:gd name="textAreaBottom" fmla="*/ 3108960 h 3108600"/>
              </a:gdLst>
              <a:ahLst/>
              <a:rect l="textAreaLeft" t="textAreaTop" r="textAreaRight" b="textAreaBottom"/>
              <a:pathLst>
                <a:path w="5201920" h="4145280">
                  <a:moveTo>
                    <a:pt x="0" y="82169"/>
                  </a:moveTo>
                  <a:cubicBezTo>
                    <a:pt x="0" y="36703"/>
                    <a:pt x="36830" y="0"/>
                    <a:pt x="82296" y="0"/>
                  </a:cubicBezTo>
                  <a:lnTo>
                    <a:pt x="5119624" y="0"/>
                  </a:lnTo>
                  <a:lnTo>
                    <a:pt x="5119624" y="25400"/>
                  </a:lnTo>
                  <a:lnTo>
                    <a:pt x="5119624" y="0"/>
                  </a:lnTo>
                  <a:cubicBezTo>
                    <a:pt x="5164963" y="0"/>
                    <a:pt x="5201920" y="36703"/>
                    <a:pt x="5201920" y="82169"/>
                  </a:cubicBezTo>
                  <a:lnTo>
                    <a:pt x="5176520" y="82169"/>
                  </a:lnTo>
                  <a:lnTo>
                    <a:pt x="5201920" y="82169"/>
                  </a:lnTo>
                  <a:lnTo>
                    <a:pt x="5201920" y="4063111"/>
                  </a:lnTo>
                  <a:lnTo>
                    <a:pt x="5176520" y="4063111"/>
                  </a:lnTo>
                  <a:lnTo>
                    <a:pt x="5201920" y="4063111"/>
                  </a:lnTo>
                  <a:cubicBezTo>
                    <a:pt x="5201920" y="4108577"/>
                    <a:pt x="5165090" y="4145280"/>
                    <a:pt x="5119624" y="4145280"/>
                  </a:cubicBezTo>
                  <a:lnTo>
                    <a:pt x="5119624" y="4119880"/>
                  </a:lnTo>
                  <a:lnTo>
                    <a:pt x="5119624" y="4145280"/>
                  </a:lnTo>
                  <a:lnTo>
                    <a:pt x="82296" y="4145280"/>
                  </a:lnTo>
                  <a:lnTo>
                    <a:pt x="82296" y="4119880"/>
                  </a:lnTo>
                  <a:lnTo>
                    <a:pt x="82296" y="4145280"/>
                  </a:lnTo>
                  <a:cubicBezTo>
                    <a:pt x="36830" y="4145153"/>
                    <a:pt x="0" y="4108450"/>
                    <a:pt x="0" y="4063111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4063111"/>
                  </a:lnTo>
                  <a:lnTo>
                    <a:pt x="25400" y="4063111"/>
                  </a:lnTo>
                  <a:lnTo>
                    <a:pt x="50800" y="4063111"/>
                  </a:lnTo>
                  <a:cubicBezTo>
                    <a:pt x="50800" y="4080383"/>
                    <a:pt x="64770" y="4094480"/>
                    <a:pt x="82296" y="4094480"/>
                  </a:cubicBezTo>
                  <a:lnTo>
                    <a:pt x="5119624" y="4094480"/>
                  </a:lnTo>
                  <a:cubicBezTo>
                    <a:pt x="5137023" y="4094480"/>
                    <a:pt x="5151120" y="4080383"/>
                    <a:pt x="5151120" y="4063111"/>
                  </a:cubicBezTo>
                  <a:lnTo>
                    <a:pt x="5151120" y="82169"/>
                  </a:lnTo>
                  <a:cubicBezTo>
                    <a:pt x="5151120" y="64897"/>
                    <a:pt x="5137150" y="50800"/>
                    <a:pt x="5119624" y="50800"/>
                  </a:cubicBezTo>
                  <a:lnTo>
                    <a:pt x="82296" y="50800"/>
                  </a:lnTo>
                  <a:lnTo>
                    <a:pt x="82296" y="25400"/>
                  </a:lnTo>
                  <a:lnTo>
                    <a:pt x="82296" y="50800"/>
                  </a:lnTo>
                  <a:cubicBezTo>
                    <a:pt x="64770" y="50800"/>
                    <a:pt x="50800" y="64897"/>
                    <a:pt x="50800" y="82169"/>
                  </a:cubicBezTo>
                  <a:close/>
                </a:path>
              </a:pathLst>
            </a:custGeom>
            <a:solidFill>
              <a:srgbClr val="585f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2" name="TextBox 15"/>
          <p:cNvSpPr/>
          <p:nvPr/>
        </p:nvSpPr>
        <p:spPr>
          <a:xfrm>
            <a:off x="5460480" y="4660920"/>
            <a:ext cx="321984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700" spc="-1" strike="noStrike">
                <a:solidFill>
                  <a:srgbClr val="d6e5ef"/>
                </a:solidFill>
                <a:latin typeface="Roboto Slab"/>
                <a:ea typeface="Roboto Slab"/>
              </a:rPr>
              <a:t>Cityscapes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16"/>
          <p:cNvSpPr/>
          <p:nvPr/>
        </p:nvSpPr>
        <p:spPr>
          <a:xfrm>
            <a:off x="5460480" y="5188320"/>
            <a:ext cx="3219840" cy="17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Missing key annotations, and the authors were unreachable.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4" name="Group 17"/>
          <p:cNvGrpSpPr/>
          <p:nvPr/>
        </p:nvGrpSpPr>
        <p:grpSpPr>
          <a:xfrm>
            <a:off x="9266760" y="4329720"/>
            <a:ext cx="3900960" cy="3108600"/>
            <a:chOff x="9266760" y="4329720"/>
            <a:chExt cx="3900960" cy="3108600"/>
          </a:xfrm>
        </p:grpSpPr>
        <p:sp>
          <p:nvSpPr>
            <p:cNvPr id="125" name="Freeform 18"/>
            <p:cNvSpPr/>
            <p:nvPr/>
          </p:nvSpPr>
          <p:spPr>
            <a:xfrm>
              <a:off x="9285840" y="4348800"/>
              <a:ext cx="3863160" cy="3070440"/>
            </a:xfrm>
            <a:custGeom>
              <a:avLst/>
              <a:gdLst>
                <a:gd name="textAreaLeft" fmla="*/ 0 w 3863160"/>
                <a:gd name="textAreaRight" fmla="*/ 3863520 w 3863160"/>
                <a:gd name="textAreaTop" fmla="*/ 0 h 3070440"/>
                <a:gd name="textAreaBottom" fmla="*/ 3070800 h 3070440"/>
              </a:gdLst>
              <a:ahLst/>
              <a:rect l="textAreaLeft" t="textAreaTop" r="textAreaRight" b="textAreaBottom"/>
              <a:pathLst>
                <a:path w="5151120" h="4094480">
                  <a:moveTo>
                    <a:pt x="0" y="56769"/>
                  </a:moveTo>
                  <a:cubicBezTo>
                    <a:pt x="0" y="25400"/>
                    <a:pt x="25400" y="0"/>
                    <a:pt x="56896" y="0"/>
                  </a:cubicBezTo>
                  <a:lnTo>
                    <a:pt x="5094224" y="0"/>
                  </a:lnTo>
                  <a:cubicBezTo>
                    <a:pt x="5125593" y="0"/>
                    <a:pt x="5151120" y="25400"/>
                    <a:pt x="5151120" y="56769"/>
                  </a:cubicBezTo>
                  <a:lnTo>
                    <a:pt x="5151120" y="4037711"/>
                  </a:lnTo>
                  <a:cubicBezTo>
                    <a:pt x="5151120" y="4069080"/>
                    <a:pt x="5125720" y="4094480"/>
                    <a:pt x="5094224" y="4094480"/>
                  </a:cubicBezTo>
                  <a:lnTo>
                    <a:pt x="56896" y="4094480"/>
                  </a:lnTo>
                  <a:cubicBezTo>
                    <a:pt x="25527" y="4094480"/>
                    <a:pt x="0" y="4069080"/>
                    <a:pt x="0" y="4037711"/>
                  </a:cubicBezTo>
                  <a:close/>
                </a:path>
              </a:pathLst>
            </a:custGeom>
            <a:solidFill>
              <a:srgbClr val="202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6" name="Freeform 19"/>
            <p:cNvSpPr/>
            <p:nvPr/>
          </p:nvSpPr>
          <p:spPr>
            <a:xfrm>
              <a:off x="9266760" y="4329720"/>
              <a:ext cx="3900960" cy="3108600"/>
            </a:xfrm>
            <a:custGeom>
              <a:avLst/>
              <a:gdLst>
                <a:gd name="textAreaLeft" fmla="*/ 0 w 3900960"/>
                <a:gd name="textAreaRight" fmla="*/ 3901320 w 3900960"/>
                <a:gd name="textAreaTop" fmla="*/ 0 h 3108600"/>
                <a:gd name="textAreaBottom" fmla="*/ 3108960 h 3108600"/>
              </a:gdLst>
              <a:ahLst/>
              <a:rect l="textAreaLeft" t="textAreaTop" r="textAreaRight" b="textAreaBottom"/>
              <a:pathLst>
                <a:path w="5201920" h="4145280">
                  <a:moveTo>
                    <a:pt x="0" y="82169"/>
                  </a:moveTo>
                  <a:cubicBezTo>
                    <a:pt x="0" y="36703"/>
                    <a:pt x="36830" y="0"/>
                    <a:pt x="82296" y="0"/>
                  </a:cubicBezTo>
                  <a:lnTo>
                    <a:pt x="5119624" y="0"/>
                  </a:lnTo>
                  <a:lnTo>
                    <a:pt x="5119624" y="25400"/>
                  </a:lnTo>
                  <a:lnTo>
                    <a:pt x="5119624" y="0"/>
                  </a:lnTo>
                  <a:cubicBezTo>
                    <a:pt x="5164963" y="0"/>
                    <a:pt x="5201920" y="36703"/>
                    <a:pt x="5201920" y="82169"/>
                  </a:cubicBezTo>
                  <a:lnTo>
                    <a:pt x="5176520" y="82169"/>
                  </a:lnTo>
                  <a:lnTo>
                    <a:pt x="5201920" y="82169"/>
                  </a:lnTo>
                  <a:lnTo>
                    <a:pt x="5201920" y="4063111"/>
                  </a:lnTo>
                  <a:lnTo>
                    <a:pt x="5176520" y="4063111"/>
                  </a:lnTo>
                  <a:lnTo>
                    <a:pt x="5201920" y="4063111"/>
                  </a:lnTo>
                  <a:cubicBezTo>
                    <a:pt x="5201920" y="4108577"/>
                    <a:pt x="5165090" y="4145280"/>
                    <a:pt x="5119624" y="4145280"/>
                  </a:cubicBezTo>
                  <a:lnTo>
                    <a:pt x="5119624" y="4119880"/>
                  </a:lnTo>
                  <a:lnTo>
                    <a:pt x="5119624" y="4145280"/>
                  </a:lnTo>
                  <a:lnTo>
                    <a:pt x="82296" y="4145280"/>
                  </a:lnTo>
                  <a:lnTo>
                    <a:pt x="82296" y="4119880"/>
                  </a:lnTo>
                  <a:lnTo>
                    <a:pt x="82296" y="4145280"/>
                  </a:lnTo>
                  <a:cubicBezTo>
                    <a:pt x="36830" y="4145153"/>
                    <a:pt x="0" y="4108450"/>
                    <a:pt x="0" y="4063111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4063111"/>
                  </a:lnTo>
                  <a:lnTo>
                    <a:pt x="25400" y="4063111"/>
                  </a:lnTo>
                  <a:lnTo>
                    <a:pt x="50800" y="4063111"/>
                  </a:lnTo>
                  <a:cubicBezTo>
                    <a:pt x="50800" y="4080383"/>
                    <a:pt x="64770" y="4094480"/>
                    <a:pt x="82296" y="4094480"/>
                  </a:cubicBezTo>
                  <a:lnTo>
                    <a:pt x="5119624" y="4094480"/>
                  </a:lnTo>
                  <a:cubicBezTo>
                    <a:pt x="5137023" y="4094480"/>
                    <a:pt x="5151120" y="4080383"/>
                    <a:pt x="5151120" y="4063111"/>
                  </a:cubicBezTo>
                  <a:lnTo>
                    <a:pt x="5151120" y="82169"/>
                  </a:lnTo>
                  <a:cubicBezTo>
                    <a:pt x="5151120" y="64897"/>
                    <a:pt x="5137150" y="50800"/>
                    <a:pt x="5119624" y="50800"/>
                  </a:cubicBezTo>
                  <a:lnTo>
                    <a:pt x="82296" y="50800"/>
                  </a:lnTo>
                  <a:lnTo>
                    <a:pt x="82296" y="25400"/>
                  </a:lnTo>
                  <a:lnTo>
                    <a:pt x="82296" y="50800"/>
                  </a:lnTo>
                  <a:cubicBezTo>
                    <a:pt x="64770" y="50800"/>
                    <a:pt x="50800" y="64897"/>
                    <a:pt x="50800" y="82169"/>
                  </a:cubicBezTo>
                  <a:close/>
                </a:path>
              </a:pathLst>
            </a:custGeom>
            <a:solidFill>
              <a:srgbClr val="585f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27" name="TextBox 20"/>
          <p:cNvSpPr/>
          <p:nvPr/>
        </p:nvSpPr>
        <p:spPr>
          <a:xfrm>
            <a:off x="9607320" y="4660920"/>
            <a:ext cx="321984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700" spc="-1" strike="noStrike">
                <a:solidFill>
                  <a:srgbClr val="d6e5ef"/>
                </a:solidFill>
                <a:latin typeface="Roboto Slab"/>
                <a:ea typeface="Roboto Slab"/>
              </a:rPr>
              <a:t>ADE20K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21"/>
          <p:cNvSpPr/>
          <p:nvPr/>
        </p:nvSpPr>
        <p:spPr>
          <a:xfrm>
            <a:off x="9607320" y="5188320"/>
            <a:ext cx="3219840" cy="133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Too many classes for our small model capacity.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9" name="Group 22"/>
          <p:cNvGrpSpPr/>
          <p:nvPr/>
        </p:nvGrpSpPr>
        <p:grpSpPr>
          <a:xfrm>
            <a:off x="13413600" y="4329720"/>
            <a:ext cx="3900960" cy="3108600"/>
            <a:chOff x="13413600" y="4329720"/>
            <a:chExt cx="3900960" cy="3108600"/>
          </a:xfrm>
        </p:grpSpPr>
        <p:sp>
          <p:nvSpPr>
            <p:cNvPr id="130" name="Freeform 23"/>
            <p:cNvSpPr/>
            <p:nvPr/>
          </p:nvSpPr>
          <p:spPr>
            <a:xfrm>
              <a:off x="13432320" y="4348800"/>
              <a:ext cx="3863160" cy="3070440"/>
            </a:xfrm>
            <a:custGeom>
              <a:avLst/>
              <a:gdLst>
                <a:gd name="textAreaLeft" fmla="*/ 0 w 3863160"/>
                <a:gd name="textAreaRight" fmla="*/ 3863520 w 3863160"/>
                <a:gd name="textAreaTop" fmla="*/ 0 h 3070440"/>
                <a:gd name="textAreaBottom" fmla="*/ 3070800 h 3070440"/>
              </a:gdLst>
              <a:ahLst/>
              <a:rect l="textAreaLeft" t="textAreaTop" r="textAreaRight" b="textAreaBottom"/>
              <a:pathLst>
                <a:path w="5151120" h="4094480">
                  <a:moveTo>
                    <a:pt x="0" y="56769"/>
                  </a:moveTo>
                  <a:cubicBezTo>
                    <a:pt x="0" y="25400"/>
                    <a:pt x="25400" y="0"/>
                    <a:pt x="56896" y="0"/>
                  </a:cubicBezTo>
                  <a:lnTo>
                    <a:pt x="5094224" y="0"/>
                  </a:lnTo>
                  <a:cubicBezTo>
                    <a:pt x="5125593" y="0"/>
                    <a:pt x="5151120" y="25400"/>
                    <a:pt x="5151120" y="56769"/>
                  </a:cubicBezTo>
                  <a:lnTo>
                    <a:pt x="5151120" y="4037711"/>
                  </a:lnTo>
                  <a:cubicBezTo>
                    <a:pt x="5151120" y="4069080"/>
                    <a:pt x="5125720" y="4094480"/>
                    <a:pt x="5094224" y="4094480"/>
                  </a:cubicBezTo>
                  <a:lnTo>
                    <a:pt x="56896" y="4094480"/>
                  </a:lnTo>
                  <a:cubicBezTo>
                    <a:pt x="25527" y="4094480"/>
                    <a:pt x="0" y="4069080"/>
                    <a:pt x="0" y="4037711"/>
                  </a:cubicBezTo>
                  <a:close/>
                </a:path>
              </a:pathLst>
            </a:custGeom>
            <a:solidFill>
              <a:srgbClr val="202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1" name="Freeform 24"/>
            <p:cNvSpPr/>
            <p:nvPr/>
          </p:nvSpPr>
          <p:spPr>
            <a:xfrm>
              <a:off x="13413600" y="4329720"/>
              <a:ext cx="3900960" cy="3108600"/>
            </a:xfrm>
            <a:custGeom>
              <a:avLst/>
              <a:gdLst>
                <a:gd name="textAreaLeft" fmla="*/ 0 w 3900960"/>
                <a:gd name="textAreaRight" fmla="*/ 3901320 w 3900960"/>
                <a:gd name="textAreaTop" fmla="*/ 0 h 3108600"/>
                <a:gd name="textAreaBottom" fmla="*/ 3108960 h 3108600"/>
              </a:gdLst>
              <a:ahLst/>
              <a:rect l="textAreaLeft" t="textAreaTop" r="textAreaRight" b="textAreaBottom"/>
              <a:pathLst>
                <a:path w="5201920" h="4145280">
                  <a:moveTo>
                    <a:pt x="0" y="82169"/>
                  </a:moveTo>
                  <a:cubicBezTo>
                    <a:pt x="0" y="36703"/>
                    <a:pt x="36830" y="0"/>
                    <a:pt x="82296" y="0"/>
                  </a:cubicBezTo>
                  <a:lnTo>
                    <a:pt x="5119624" y="0"/>
                  </a:lnTo>
                  <a:lnTo>
                    <a:pt x="5119624" y="25400"/>
                  </a:lnTo>
                  <a:lnTo>
                    <a:pt x="5119624" y="0"/>
                  </a:lnTo>
                  <a:cubicBezTo>
                    <a:pt x="5164963" y="0"/>
                    <a:pt x="5201920" y="36703"/>
                    <a:pt x="5201920" y="82169"/>
                  </a:cubicBezTo>
                  <a:lnTo>
                    <a:pt x="5176520" y="82169"/>
                  </a:lnTo>
                  <a:lnTo>
                    <a:pt x="5201920" y="82169"/>
                  </a:lnTo>
                  <a:lnTo>
                    <a:pt x="5201920" y="4063111"/>
                  </a:lnTo>
                  <a:lnTo>
                    <a:pt x="5176520" y="4063111"/>
                  </a:lnTo>
                  <a:lnTo>
                    <a:pt x="5201920" y="4063111"/>
                  </a:lnTo>
                  <a:cubicBezTo>
                    <a:pt x="5201920" y="4108577"/>
                    <a:pt x="5165090" y="4145280"/>
                    <a:pt x="5119624" y="4145280"/>
                  </a:cubicBezTo>
                  <a:lnTo>
                    <a:pt x="5119624" y="4119880"/>
                  </a:lnTo>
                  <a:lnTo>
                    <a:pt x="5119624" y="4145280"/>
                  </a:lnTo>
                  <a:lnTo>
                    <a:pt x="82296" y="4145280"/>
                  </a:lnTo>
                  <a:lnTo>
                    <a:pt x="82296" y="4119880"/>
                  </a:lnTo>
                  <a:lnTo>
                    <a:pt x="82296" y="4145280"/>
                  </a:lnTo>
                  <a:cubicBezTo>
                    <a:pt x="36830" y="4145153"/>
                    <a:pt x="0" y="4108450"/>
                    <a:pt x="0" y="4063111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4063111"/>
                  </a:lnTo>
                  <a:lnTo>
                    <a:pt x="25400" y="4063111"/>
                  </a:lnTo>
                  <a:lnTo>
                    <a:pt x="50800" y="4063111"/>
                  </a:lnTo>
                  <a:cubicBezTo>
                    <a:pt x="50800" y="4080383"/>
                    <a:pt x="64770" y="4094480"/>
                    <a:pt x="82296" y="4094480"/>
                  </a:cubicBezTo>
                  <a:lnTo>
                    <a:pt x="5119624" y="4094480"/>
                  </a:lnTo>
                  <a:cubicBezTo>
                    <a:pt x="5137023" y="4094480"/>
                    <a:pt x="5151120" y="4080383"/>
                    <a:pt x="5151120" y="4063111"/>
                  </a:cubicBezTo>
                  <a:lnTo>
                    <a:pt x="5151120" y="82169"/>
                  </a:lnTo>
                  <a:cubicBezTo>
                    <a:pt x="5151120" y="64897"/>
                    <a:pt x="5137150" y="50800"/>
                    <a:pt x="5119624" y="50800"/>
                  </a:cubicBezTo>
                  <a:lnTo>
                    <a:pt x="82296" y="50800"/>
                  </a:lnTo>
                  <a:lnTo>
                    <a:pt x="82296" y="25400"/>
                  </a:lnTo>
                  <a:lnTo>
                    <a:pt x="82296" y="50800"/>
                  </a:lnTo>
                  <a:cubicBezTo>
                    <a:pt x="64770" y="50800"/>
                    <a:pt x="50800" y="64897"/>
                    <a:pt x="50800" y="82169"/>
                  </a:cubicBezTo>
                  <a:close/>
                </a:path>
              </a:pathLst>
            </a:custGeom>
            <a:solidFill>
              <a:srgbClr val="585f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2" name="TextBox 25"/>
          <p:cNvSpPr/>
          <p:nvPr/>
        </p:nvSpPr>
        <p:spPr>
          <a:xfrm>
            <a:off x="13754160" y="4660920"/>
            <a:ext cx="321984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700" spc="-1" strike="noStrike">
                <a:solidFill>
                  <a:srgbClr val="d6e5ef"/>
                </a:solidFill>
                <a:latin typeface="Roboto Slab"/>
                <a:ea typeface="Roboto Slab"/>
              </a:rPr>
              <a:t>Decision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26"/>
          <p:cNvSpPr/>
          <p:nvPr/>
        </p:nvSpPr>
        <p:spPr>
          <a:xfrm>
            <a:off x="13754160" y="5188320"/>
            <a:ext cx="3219840" cy="177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Switched to video datasets (YTVOS → YTVIS) for I-frame training.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35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36" name="Group 4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37" name="Freeform 5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38" name="TextBox 6"/>
          <p:cNvSpPr/>
          <p:nvPr/>
        </p:nvSpPr>
        <p:spPr>
          <a:xfrm>
            <a:off x="992160" y="1014120"/>
            <a:ext cx="12127320" cy="87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900"/>
              </a:lnSpc>
            </a:pPr>
            <a:r>
              <a:rPr b="0" lang="en-US" sz="5500" spc="-1" strike="noStrike">
                <a:solidFill>
                  <a:srgbClr val="76b9ff"/>
                </a:solidFill>
                <a:latin typeface="Roboto Slab"/>
                <a:ea typeface="Roboto Slab"/>
              </a:rPr>
              <a:t>Dataset Transition: YTVOS → YTVIS</a:t>
            </a:r>
            <a:endParaRPr b="0" lang="en-US" sz="5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7"/>
          <p:cNvSpPr/>
          <p:nvPr/>
        </p:nvSpPr>
        <p:spPr>
          <a:xfrm>
            <a:off x="992160" y="2409840"/>
            <a:ext cx="1630332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1" lang="en-US" sz="2200" spc="-1" strike="noStrike">
                <a:solidFill>
                  <a:srgbClr val="d6e5ef"/>
                </a:solidFill>
                <a:latin typeface="Roboto Bold"/>
                <a:ea typeface="Roboto Bold"/>
              </a:rPr>
              <a:t>Problem:</a:t>
            </a: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 YTVOS annotation inconsistency (multiple vs. single masks per frame) degraded model performance.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8"/>
          <p:cNvSpPr/>
          <p:nvPr/>
        </p:nvSpPr>
        <p:spPr>
          <a:xfrm>
            <a:off x="992160" y="3182400"/>
            <a:ext cx="1630332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1" lang="en-US" sz="2200" spc="-1" strike="noStrike">
                <a:solidFill>
                  <a:srgbClr val="d6e5ef"/>
                </a:solidFill>
                <a:latin typeface="Roboto Bold"/>
                <a:ea typeface="Roboto Bold"/>
              </a:rPr>
              <a:t>Solution:</a:t>
            </a: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 Switched to YTVIS with consistent single-instance annotations and smart cropping.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9"/>
          <p:cNvSpPr/>
          <p:nvPr/>
        </p:nvSpPr>
        <p:spPr>
          <a:xfrm>
            <a:off x="992160" y="4146840"/>
            <a:ext cx="425268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99"/>
              </a:lnSpc>
            </a:pPr>
            <a:r>
              <a:rPr b="0" lang="en-US" sz="3300" spc="-1" strike="noStrike">
                <a:solidFill>
                  <a:srgbClr val="76b9ff"/>
                </a:solidFill>
                <a:latin typeface="Roboto Slab"/>
                <a:ea typeface="Roboto Slab"/>
              </a:rPr>
              <a:t>YTVOS Results</a:t>
            </a:r>
            <a:endParaRPr b="0" lang="en-US" sz="33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2" name="Group 10"/>
          <p:cNvGrpSpPr/>
          <p:nvPr/>
        </p:nvGrpSpPr>
        <p:grpSpPr>
          <a:xfrm>
            <a:off x="987480" y="5108400"/>
            <a:ext cx="16312680" cy="4131000"/>
            <a:chOff x="987480" y="5108400"/>
            <a:chExt cx="16312680" cy="4131000"/>
          </a:xfrm>
        </p:grpSpPr>
        <p:sp>
          <p:nvSpPr>
            <p:cNvPr id="143" name="Freeform 11"/>
            <p:cNvSpPr/>
            <p:nvPr/>
          </p:nvSpPr>
          <p:spPr>
            <a:xfrm>
              <a:off x="987480" y="5108400"/>
              <a:ext cx="16312680" cy="4131000"/>
            </a:xfrm>
            <a:custGeom>
              <a:avLst/>
              <a:gdLst>
                <a:gd name="textAreaLeft" fmla="*/ 0 w 16312680"/>
                <a:gd name="textAreaRight" fmla="*/ 16313040 w 16312680"/>
                <a:gd name="textAreaTop" fmla="*/ 0 h 4131000"/>
                <a:gd name="textAreaBottom" fmla="*/ 4131360 h 4131000"/>
              </a:gdLst>
              <a:ahLst/>
              <a:rect l="textAreaLeft" t="textAreaTop" r="textAreaRight" b="textAreaBottom"/>
              <a:pathLst>
                <a:path w="21750655" h="5508244">
                  <a:moveTo>
                    <a:pt x="0" y="63119"/>
                  </a:moveTo>
                  <a:cubicBezTo>
                    <a:pt x="0" y="28194"/>
                    <a:pt x="28321" y="0"/>
                    <a:pt x="63119" y="0"/>
                  </a:cubicBezTo>
                  <a:lnTo>
                    <a:pt x="21687537" y="0"/>
                  </a:lnTo>
                  <a:lnTo>
                    <a:pt x="21687537" y="6350"/>
                  </a:lnTo>
                  <a:lnTo>
                    <a:pt x="21687537" y="0"/>
                  </a:lnTo>
                  <a:cubicBezTo>
                    <a:pt x="21722462" y="0"/>
                    <a:pt x="21750655" y="28194"/>
                    <a:pt x="21750655" y="63119"/>
                  </a:cubicBezTo>
                  <a:lnTo>
                    <a:pt x="21744305" y="63119"/>
                  </a:lnTo>
                  <a:lnTo>
                    <a:pt x="21750655" y="63119"/>
                  </a:lnTo>
                  <a:lnTo>
                    <a:pt x="21750655" y="5445125"/>
                  </a:lnTo>
                  <a:lnTo>
                    <a:pt x="21744305" y="5445125"/>
                  </a:lnTo>
                  <a:lnTo>
                    <a:pt x="21750655" y="5445125"/>
                  </a:lnTo>
                  <a:cubicBezTo>
                    <a:pt x="21750655" y="5479923"/>
                    <a:pt x="21722335" y="5508244"/>
                    <a:pt x="21687537" y="5508244"/>
                  </a:cubicBezTo>
                  <a:lnTo>
                    <a:pt x="21687537" y="5501894"/>
                  </a:lnTo>
                  <a:lnTo>
                    <a:pt x="21687537" y="5508244"/>
                  </a:lnTo>
                  <a:lnTo>
                    <a:pt x="63119" y="5508244"/>
                  </a:lnTo>
                  <a:lnTo>
                    <a:pt x="63119" y="5501894"/>
                  </a:lnTo>
                  <a:lnTo>
                    <a:pt x="63119" y="5508244"/>
                  </a:lnTo>
                  <a:cubicBezTo>
                    <a:pt x="28194" y="5508244"/>
                    <a:pt x="0" y="5480050"/>
                    <a:pt x="0" y="5445125"/>
                  </a:cubicBezTo>
                  <a:lnTo>
                    <a:pt x="0" y="63119"/>
                  </a:lnTo>
                  <a:lnTo>
                    <a:pt x="6350" y="63119"/>
                  </a:lnTo>
                  <a:lnTo>
                    <a:pt x="0" y="63119"/>
                  </a:lnTo>
                  <a:moveTo>
                    <a:pt x="12700" y="63119"/>
                  </a:moveTo>
                  <a:lnTo>
                    <a:pt x="12700" y="5445125"/>
                  </a:lnTo>
                  <a:lnTo>
                    <a:pt x="6350" y="5445125"/>
                  </a:lnTo>
                  <a:lnTo>
                    <a:pt x="12700" y="5445125"/>
                  </a:lnTo>
                  <a:cubicBezTo>
                    <a:pt x="12700" y="5472938"/>
                    <a:pt x="35306" y="5495544"/>
                    <a:pt x="63119" y="5495544"/>
                  </a:cubicBezTo>
                  <a:lnTo>
                    <a:pt x="21687537" y="5495544"/>
                  </a:lnTo>
                  <a:cubicBezTo>
                    <a:pt x="21715476" y="5495544"/>
                    <a:pt x="21737955" y="5472938"/>
                    <a:pt x="21737955" y="5445125"/>
                  </a:cubicBezTo>
                  <a:lnTo>
                    <a:pt x="21737955" y="63119"/>
                  </a:lnTo>
                  <a:cubicBezTo>
                    <a:pt x="21737955" y="35306"/>
                    <a:pt x="21715350" y="12700"/>
                    <a:pt x="21687537" y="12700"/>
                  </a:cubicBezTo>
                  <a:lnTo>
                    <a:pt x="63119" y="12700"/>
                  </a:lnTo>
                  <a:lnTo>
                    <a:pt x="63119" y="6350"/>
                  </a:lnTo>
                  <a:lnTo>
                    <a:pt x="63119" y="12700"/>
                  </a:lnTo>
                  <a:cubicBezTo>
                    <a:pt x="35306" y="12700"/>
                    <a:pt x="12700" y="35306"/>
                    <a:pt x="12700" y="63119"/>
                  </a:cubicBez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4" name="TextBox 12"/>
          <p:cNvSpPr/>
          <p:nvPr/>
        </p:nvSpPr>
        <p:spPr>
          <a:xfrm>
            <a:off x="1285560" y="5207040"/>
            <a:ext cx="594144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Metric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13"/>
          <p:cNvSpPr/>
          <p:nvPr/>
        </p:nvSpPr>
        <p:spPr>
          <a:xfrm>
            <a:off x="7804080" y="5207040"/>
            <a:ext cx="919836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Value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14"/>
          <p:cNvSpPr/>
          <p:nvPr/>
        </p:nvSpPr>
        <p:spPr>
          <a:xfrm>
            <a:off x="1285560" y="6029640"/>
            <a:ext cx="594144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IoU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15"/>
          <p:cNvSpPr/>
          <p:nvPr/>
        </p:nvSpPr>
        <p:spPr>
          <a:xfrm>
            <a:off x="7804080" y="6029640"/>
            <a:ext cx="919836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0.468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16"/>
          <p:cNvSpPr/>
          <p:nvPr/>
        </p:nvSpPr>
        <p:spPr>
          <a:xfrm>
            <a:off x="1285560" y="6851880"/>
            <a:ext cx="594144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F1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17"/>
          <p:cNvSpPr/>
          <p:nvPr/>
        </p:nvSpPr>
        <p:spPr>
          <a:xfrm>
            <a:off x="7804080" y="6851880"/>
            <a:ext cx="919836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0.574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18"/>
          <p:cNvSpPr/>
          <p:nvPr/>
        </p:nvSpPr>
        <p:spPr>
          <a:xfrm>
            <a:off x="1285560" y="7674480"/>
            <a:ext cx="594144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WCOV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19"/>
          <p:cNvSpPr/>
          <p:nvPr/>
        </p:nvSpPr>
        <p:spPr>
          <a:xfrm>
            <a:off x="7804080" y="7674480"/>
            <a:ext cx="919836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0.631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20"/>
          <p:cNvSpPr/>
          <p:nvPr/>
        </p:nvSpPr>
        <p:spPr>
          <a:xfrm>
            <a:off x="1285560" y="8497080"/>
            <a:ext cx="594144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F-Bound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21"/>
          <p:cNvSpPr/>
          <p:nvPr/>
        </p:nvSpPr>
        <p:spPr>
          <a:xfrm>
            <a:off x="7804080" y="8497080"/>
            <a:ext cx="9198360" cy="44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0.501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55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56" name="Group 4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57" name="Freeform 5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58" name="TextBox 6"/>
          <p:cNvSpPr/>
          <p:nvPr/>
        </p:nvSpPr>
        <p:spPr>
          <a:xfrm>
            <a:off x="3641760" y="502920"/>
            <a:ext cx="3986640" cy="49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00"/>
              </a:lnSpc>
            </a:pPr>
            <a:r>
              <a:rPr b="0" lang="en-US" sz="3100" spc="-1" strike="noStrike">
                <a:solidFill>
                  <a:srgbClr val="76b9ff"/>
                </a:solidFill>
                <a:latin typeface="Roboto Slab"/>
                <a:ea typeface="Roboto Slab"/>
              </a:rPr>
              <a:t>Results</a:t>
            </a:r>
            <a:endParaRPr b="0" lang="en-US" sz="3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7"/>
          <p:cNvSpPr/>
          <p:nvPr/>
        </p:nvSpPr>
        <p:spPr>
          <a:xfrm>
            <a:off x="3641760" y="1234800"/>
            <a:ext cx="199332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</a:pPr>
            <a:r>
              <a:rPr b="0" lang="en-US" sz="1500" spc="-1" strike="noStrike">
                <a:solidFill>
                  <a:srgbClr val="76b9ff"/>
                </a:solidFill>
                <a:latin typeface="Roboto Slab"/>
                <a:ea typeface="Roboto Slab"/>
              </a:rPr>
              <a:t>Input Frame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0" name="Group 8"/>
          <p:cNvGrpSpPr/>
          <p:nvPr/>
        </p:nvGrpSpPr>
        <p:grpSpPr>
          <a:xfrm>
            <a:off x="3641760" y="1594440"/>
            <a:ext cx="3713760" cy="3713760"/>
            <a:chOff x="3641760" y="1594440"/>
            <a:chExt cx="3713760" cy="3713760"/>
          </a:xfrm>
        </p:grpSpPr>
        <p:sp>
          <p:nvSpPr>
            <p:cNvPr id="161" name="Freeform 9"/>
            <p:cNvSpPr/>
            <p:nvPr/>
          </p:nvSpPr>
          <p:spPr>
            <a:xfrm>
              <a:off x="3641760" y="1594440"/>
              <a:ext cx="3713760" cy="3713760"/>
            </a:xfrm>
            <a:custGeom>
              <a:avLst/>
              <a:gdLst>
                <a:gd name="textAreaLeft" fmla="*/ 0 w 3713760"/>
                <a:gd name="textAreaRight" fmla="*/ 3714120 w 3713760"/>
                <a:gd name="textAreaTop" fmla="*/ 0 h 3713760"/>
                <a:gd name="textAreaBottom" fmla="*/ 3714120 h 3713760"/>
              </a:gdLst>
              <a:ahLst/>
              <a:rect l="textAreaLeft" t="textAreaTop" r="textAreaRight" b="textAreaBottom"/>
              <a:pathLst>
                <a:path w="4951984" h="4951984">
                  <a:moveTo>
                    <a:pt x="0" y="0"/>
                  </a:moveTo>
                  <a:lnTo>
                    <a:pt x="4951984" y="0"/>
                  </a:lnTo>
                  <a:lnTo>
                    <a:pt x="4951984" y="4951984"/>
                  </a:lnTo>
                  <a:lnTo>
                    <a:pt x="0" y="495198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2" name="TextBox 10"/>
          <p:cNvSpPr/>
          <p:nvPr/>
        </p:nvSpPr>
        <p:spPr>
          <a:xfrm>
            <a:off x="9348120" y="1234800"/>
            <a:ext cx="19947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</a:pPr>
            <a:r>
              <a:rPr b="0" lang="en-US" sz="1500" spc="-1" strike="noStrike">
                <a:solidFill>
                  <a:srgbClr val="76b9ff"/>
                </a:solidFill>
                <a:latin typeface="Roboto Slab"/>
                <a:ea typeface="Roboto Slab"/>
              </a:rPr>
              <a:t>Segmentation Output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3" name="Group 11"/>
          <p:cNvGrpSpPr/>
          <p:nvPr/>
        </p:nvGrpSpPr>
        <p:grpSpPr>
          <a:xfrm>
            <a:off x="9348120" y="1594440"/>
            <a:ext cx="3713760" cy="3713760"/>
            <a:chOff x="9348120" y="1594440"/>
            <a:chExt cx="3713760" cy="3713760"/>
          </a:xfrm>
        </p:grpSpPr>
        <p:sp>
          <p:nvSpPr>
            <p:cNvPr id="164" name="Freeform 12"/>
            <p:cNvSpPr/>
            <p:nvPr/>
          </p:nvSpPr>
          <p:spPr>
            <a:xfrm>
              <a:off x="9348120" y="1594440"/>
              <a:ext cx="3713760" cy="3713760"/>
            </a:xfrm>
            <a:custGeom>
              <a:avLst/>
              <a:gdLst>
                <a:gd name="textAreaLeft" fmla="*/ 0 w 3713760"/>
                <a:gd name="textAreaRight" fmla="*/ 3714120 w 3713760"/>
                <a:gd name="textAreaTop" fmla="*/ 0 h 3713760"/>
                <a:gd name="textAreaBottom" fmla="*/ 3714120 h 3713760"/>
              </a:gdLst>
              <a:ahLst/>
              <a:rect l="textAreaLeft" t="textAreaTop" r="textAreaRight" b="textAreaBottom"/>
              <a:pathLst>
                <a:path w="4951984" h="4951984">
                  <a:moveTo>
                    <a:pt x="0" y="0"/>
                  </a:moveTo>
                  <a:lnTo>
                    <a:pt x="4951984" y="0"/>
                  </a:lnTo>
                  <a:lnTo>
                    <a:pt x="4951984" y="4951984"/>
                  </a:lnTo>
                  <a:lnTo>
                    <a:pt x="0" y="495198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5" name="TextBox 13"/>
          <p:cNvSpPr/>
          <p:nvPr/>
        </p:nvSpPr>
        <p:spPr>
          <a:xfrm>
            <a:off x="3641760" y="5590440"/>
            <a:ext cx="199332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</a:pPr>
            <a:r>
              <a:rPr b="0" lang="en-US" sz="1500" spc="-1" strike="noStrike">
                <a:solidFill>
                  <a:srgbClr val="76b9ff"/>
                </a:solidFill>
                <a:latin typeface="Roboto Slab"/>
                <a:ea typeface="Roboto Slab"/>
              </a:rPr>
              <a:t>Input Frame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6" name="Group 14"/>
          <p:cNvGrpSpPr/>
          <p:nvPr/>
        </p:nvGrpSpPr>
        <p:grpSpPr>
          <a:xfrm>
            <a:off x="3641760" y="5950080"/>
            <a:ext cx="3713760" cy="3713760"/>
            <a:chOff x="3641760" y="5950080"/>
            <a:chExt cx="3713760" cy="3713760"/>
          </a:xfrm>
        </p:grpSpPr>
        <p:sp>
          <p:nvSpPr>
            <p:cNvPr id="167" name="Freeform 15"/>
            <p:cNvSpPr/>
            <p:nvPr/>
          </p:nvSpPr>
          <p:spPr>
            <a:xfrm>
              <a:off x="3641760" y="5950080"/>
              <a:ext cx="3713760" cy="3713760"/>
            </a:xfrm>
            <a:custGeom>
              <a:avLst/>
              <a:gdLst>
                <a:gd name="textAreaLeft" fmla="*/ 0 w 3713760"/>
                <a:gd name="textAreaRight" fmla="*/ 3714120 w 3713760"/>
                <a:gd name="textAreaTop" fmla="*/ 0 h 3713760"/>
                <a:gd name="textAreaBottom" fmla="*/ 3714120 h 3713760"/>
              </a:gdLst>
              <a:ahLst/>
              <a:rect l="textAreaLeft" t="textAreaTop" r="textAreaRight" b="textAreaBottom"/>
              <a:pathLst>
                <a:path w="4951984" h="4951984">
                  <a:moveTo>
                    <a:pt x="0" y="0"/>
                  </a:moveTo>
                  <a:lnTo>
                    <a:pt x="4951984" y="0"/>
                  </a:lnTo>
                  <a:lnTo>
                    <a:pt x="4951984" y="4951984"/>
                  </a:lnTo>
                  <a:lnTo>
                    <a:pt x="0" y="495198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8" name="TextBox 16"/>
          <p:cNvSpPr/>
          <p:nvPr/>
        </p:nvSpPr>
        <p:spPr>
          <a:xfrm>
            <a:off x="9348120" y="5590440"/>
            <a:ext cx="1994760" cy="24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899"/>
              </a:lnSpc>
            </a:pPr>
            <a:r>
              <a:rPr b="0" lang="en-US" sz="1500" spc="-1" strike="noStrike">
                <a:solidFill>
                  <a:srgbClr val="76b9ff"/>
                </a:solidFill>
                <a:latin typeface="Roboto Slab"/>
                <a:ea typeface="Roboto Slab"/>
              </a:rPr>
              <a:t>Segmentation Output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69" name="Group 17"/>
          <p:cNvGrpSpPr/>
          <p:nvPr/>
        </p:nvGrpSpPr>
        <p:grpSpPr>
          <a:xfrm>
            <a:off x="9348120" y="5950080"/>
            <a:ext cx="3713760" cy="3713760"/>
            <a:chOff x="9348120" y="5950080"/>
            <a:chExt cx="3713760" cy="3713760"/>
          </a:xfrm>
        </p:grpSpPr>
        <p:sp>
          <p:nvSpPr>
            <p:cNvPr id="170" name="Freeform 18"/>
            <p:cNvSpPr/>
            <p:nvPr/>
          </p:nvSpPr>
          <p:spPr>
            <a:xfrm>
              <a:off x="9348120" y="5950080"/>
              <a:ext cx="3713760" cy="3713760"/>
            </a:xfrm>
            <a:custGeom>
              <a:avLst/>
              <a:gdLst>
                <a:gd name="textAreaLeft" fmla="*/ 0 w 3713760"/>
                <a:gd name="textAreaRight" fmla="*/ 3714120 w 3713760"/>
                <a:gd name="textAreaTop" fmla="*/ 0 h 3713760"/>
                <a:gd name="textAreaBottom" fmla="*/ 3714120 h 3713760"/>
              </a:gdLst>
              <a:ahLst/>
              <a:rect l="textAreaLeft" t="textAreaTop" r="textAreaRight" b="textAreaBottom"/>
              <a:pathLst>
                <a:path w="4951984" h="4951984">
                  <a:moveTo>
                    <a:pt x="0" y="0"/>
                  </a:moveTo>
                  <a:lnTo>
                    <a:pt x="4951984" y="0"/>
                  </a:lnTo>
                  <a:lnTo>
                    <a:pt x="4951984" y="4951984"/>
                  </a:lnTo>
                  <a:lnTo>
                    <a:pt x="0" y="495198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72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73" name="Group 4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74" name="Freeform 5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75" name="TextBox 6"/>
          <p:cNvSpPr/>
          <p:nvPr/>
        </p:nvSpPr>
        <p:spPr>
          <a:xfrm>
            <a:off x="961200" y="804960"/>
            <a:ext cx="8776800" cy="8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701"/>
              </a:lnSpc>
            </a:pPr>
            <a:r>
              <a:rPr b="0" lang="en-US" sz="5400" spc="-1" strike="noStrike">
                <a:solidFill>
                  <a:srgbClr val="76b9ff"/>
                </a:solidFill>
                <a:latin typeface="Roboto Slab"/>
                <a:ea typeface="Roboto Slab"/>
              </a:rPr>
              <a:t>Results: YTVIS Benchmark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Box 7"/>
          <p:cNvSpPr/>
          <p:nvPr/>
        </p:nvSpPr>
        <p:spPr>
          <a:xfrm>
            <a:off x="961200" y="2494440"/>
            <a:ext cx="5232960" cy="9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101"/>
              </a:lnSpc>
            </a:pPr>
            <a:r>
              <a:rPr b="0" lang="en-US" sz="7100" spc="-1" strike="noStrike">
                <a:solidFill>
                  <a:srgbClr val="d6e5ef"/>
                </a:solidFill>
                <a:latin typeface="Roboto Slab"/>
                <a:ea typeface="Roboto Slab"/>
              </a:rPr>
              <a:t>0.734</a:t>
            </a:r>
            <a:endParaRPr b="0" lang="en-US" sz="7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Box 8"/>
          <p:cNvSpPr/>
          <p:nvPr/>
        </p:nvSpPr>
        <p:spPr>
          <a:xfrm>
            <a:off x="1861200" y="3594600"/>
            <a:ext cx="343296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300"/>
              </a:lnSpc>
            </a:pPr>
            <a:r>
              <a:rPr b="0" lang="en-US" sz="2700" spc="-1" strike="noStrike">
                <a:solidFill>
                  <a:srgbClr val="d6e5ef"/>
                </a:solidFill>
                <a:latin typeface="Roboto Slab"/>
                <a:ea typeface="Roboto Slab"/>
              </a:rPr>
              <a:t>Mean IoU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6527160" y="2494440"/>
            <a:ext cx="5233320" cy="9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101"/>
              </a:lnSpc>
            </a:pPr>
            <a:r>
              <a:rPr b="0" lang="en-US" sz="7100" spc="-1" strike="noStrike">
                <a:solidFill>
                  <a:srgbClr val="d6e5ef"/>
                </a:solidFill>
                <a:latin typeface="Roboto Slab"/>
                <a:ea typeface="Roboto Slab"/>
              </a:rPr>
              <a:t>0.831</a:t>
            </a:r>
            <a:endParaRPr b="0" lang="en-US" sz="7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Box 10"/>
          <p:cNvSpPr/>
          <p:nvPr/>
        </p:nvSpPr>
        <p:spPr>
          <a:xfrm>
            <a:off x="7427160" y="3594600"/>
            <a:ext cx="343296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300"/>
              </a:lnSpc>
            </a:pPr>
            <a:r>
              <a:rPr b="0" lang="en-US" sz="2700" spc="-1" strike="noStrike">
                <a:solidFill>
                  <a:srgbClr val="d6e5ef"/>
                </a:solidFill>
                <a:latin typeface="Roboto Slab"/>
                <a:ea typeface="Roboto Slab"/>
              </a:rPr>
              <a:t>Mean F1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Box 11"/>
          <p:cNvSpPr/>
          <p:nvPr/>
        </p:nvSpPr>
        <p:spPr>
          <a:xfrm>
            <a:off x="12093120" y="2494440"/>
            <a:ext cx="5232960" cy="90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7101"/>
              </a:lnSpc>
            </a:pPr>
            <a:r>
              <a:rPr b="0" lang="en-US" sz="7100" spc="-1" strike="noStrike">
                <a:solidFill>
                  <a:srgbClr val="d6e5ef"/>
                </a:solidFill>
                <a:latin typeface="Roboto Slab"/>
                <a:ea typeface="Roboto Slab"/>
              </a:rPr>
              <a:t>0.783</a:t>
            </a:r>
            <a:endParaRPr b="0" lang="en-US" sz="7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Box 12"/>
          <p:cNvSpPr/>
          <p:nvPr/>
        </p:nvSpPr>
        <p:spPr>
          <a:xfrm>
            <a:off x="12993120" y="3594600"/>
            <a:ext cx="343296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3300"/>
              </a:lnSpc>
            </a:pPr>
            <a:r>
              <a:rPr b="0" lang="en-US" sz="2700" spc="-1" strike="noStrike">
                <a:solidFill>
                  <a:srgbClr val="d6e5ef"/>
                </a:solidFill>
                <a:latin typeface="Roboto Slab"/>
                <a:ea typeface="Roboto Slab"/>
              </a:rPr>
              <a:t>J &amp; F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13"/>
          <p:cNvSpPr/>
          <p:nvPr/>
        </p:nvSpPr>
        <p:spPr>
          <a:xfrm>
            <a:off x="961200" y="4839120"/>
            <a:ext cx="16365240" cy="86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100" spc="-1" strike="noStrike">
                <a:solidFill>
                  <a:srgbClr val="d6e5ef"/>
                </a:solidFill>
                <a:latin typeface="Roboto"/>
                <a:ea typeface="Roboto"/>
              </a:rPr>
              <a:t>Training :150k iterations on YTVIS Dataset, finetuned for 20k iterations on DAVIS 16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3399"/>
              </a:lnSpc>
            </a:pPr>
            <a:r>
              <a:rPr b="0" lang="en-US" sz="2100" spc="-1" strike="noStrike">
                <a:solidFill>
                  <a:srgbClr val="d6e5ef"/>
                </a:solidFill>
                <a:latin typeface="Roboto"/>
                <a:ea typeface="Roboto"/>
              </a:rPr>
              <a:t>Inference time: 100 seconds per iframe AND 20 seconds per bframe on L40s (majority vote number = 10)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14"/>
          <p:cNvSpPr/>
          <p:nvPr/>
        </p:nvSpPr>
        <p:spPr>
          <a:xfrm>
            <a:off x="961200" y="6170040"/>
            <a:ext cx="4139280" cy="50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000"/>
              </a:lnSpc>
            </a:pPr>
            <a:r>
              <a:rPr b="0" lang="en-US" sz="3200" spc="-1" strike="noStrike">
                <a:solidFill>
                  <a:srgbClr val="76b9ff"/>
                </a:solidFill>
                <a:latin typeface="Roboto Slab"/>
                <a:ea typeface="Roboto Slab"/>
              </a:rPr>
              <a:t>B-Frame Comparison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4" name="Group 15"/>
          <p:cNvGrpSpPr/>
          <p:nvPr/>
        </p:nvGrpSpPr>
        <p:grpSpPr>
          <a:xfrm>
            <a:off x="956520" y="7098120"/>
            <a:ext cx="16374600" cy="2359800"/>
            <a:chOff x="956520" y="7098120"/>
            <a:chExt cx="16374600" cy="2359800"/>
          </a:xfrm>
        </p:grpSpPr>
        <p:sp>
          <p:nvSpPr>
            <p:cNvPr id="185" name="Freeform 16"/>
            <p:cNvSpPr/>
            <p:nvPr/>
          </p:nvSpPr>
          <p:spPr>
            <a:xfrm>
              <a:off x="956520" y="7098120"/>
              <a:ext cx="16374600" cy="2359800"/>
            </a:xfrm>
            <a:custGeom>
              <a:avLst/>
              <a:gdLst>
                <a:gd name="textAreaLeft" fmla="*/ 0 w 16374600"/>
                <a:gd name="textAreaRight" fmla="*/ 16374960 w 16374600"/>
                <a:gd name="textAreaTop" fmla="*/ 0 h 2359800"/>
                <a:gd name="textAreaBottom" fmla="*/ 2360160 h 2359800"/>
              </a:gdLst>
              <a:ahLst/>
              <a:rect l="textAreaLeft" t="textAreaTop" r="textAreaRight" b="textAreaBottom"/>
              <a:pathLst>
                <a:path w="21833331" h="3146679">
                  <a:moveTo>
                    <a:pt x="0" y="61341"/>
                  </a:moveTo>
                  <a:cubicBezTo>
                    <a:pt x="0" y="27432"/>
                    <a:pt x="27559" y="0"/>
                    <a:pt x="61468" y="0"/>
                  </a:cubicBezTo>
                  <a:lnTo>
                    <a:pt x="21771863" y="0"/>
                  </a:lnTo>
                  <a:lnTo>
                    <a:pt x="21771863" y="6350"/>
                  </a:lnTo>
                  <a:lnTo>
                    <a:pt x="21771863" y="0"/>
                  </a:lnTo>
                  <a:cubicBezTo>
                    <a:pt x="21805773" y="0"/>
                    <a:pt x="21833331" y="27432"/>
                    <a:pt x="21833331" y="61341"/>
                  </a:cubicBezTo>
                  <a:lnTo>
                    <a:pt x="21826981" y="61341"/>
                  </a:lnTo>
                  <a:lnTo>
                    <a:pt x="21833331" y="61341"/>
                  </a:lnTo>
                  <a:lnTo>
                    <a:pt x="21833331" y="3085338"/>
                  </a:lnTo>
                  <a:lnTo>
                    <a:pt x="21826981" y="3085338"/>
                  </a:lnTo>
                  <a:lnTo>
                    <a:pt x="21833331" y="3085338"/>
                  </a:lnTo>
                  <a:cubicBezTo>
                    <a:pt x="21833331" y="3119247"/>
                    <a:pt x="21805773" y="3146679"/>
                    <a:pt x="21771863" y="3146679"/>
                  </a:cubicBezTo>
                  <a:lnTo>
                    <a:pt x="21771863" y="3140329"/>
                  </a:lnTo>
                  <a:lnTo>
                    <a:pt x="21771863" y="3146679"/>
                  </a:lnTo>
                  <a:lnTo>
                    <a:pt x="61468" y="3146679"/>
                  </a:lnTo>
                  <a:lnTo>
                    <a:pt x="61468" y="3140329"/>
                  </a:lnTo>
                  <a:lnTo>
                    <a:pt x="61468" y="3146679"/>
                  </a:lnTo>
                  <a:cubicBezTo>
                    <a:pt x="27559" y="3146679"/>
                    <a:pt x="0" y="3119247"/>
                    <a:pt x="0" y="3085338"/>
                  </a:cubicBezTo>
                  <a:lnTo>
                    <a:pt x="0" y="61341"/>
                  </a:lnTo>
                  <a:lnTo>
                    <a:pt x="6350" y="61341"/>
                  </a:lnTo>
                  <a:lnTo>
                    <a:pt x="0" y="61341"/>
                  </a:lnTo>
                  <a:moveTo>
                    <a:pt x="12700" y="61341"/>
                  </a:moveTo>
                  <a:lnTo>
                    <a:pt x="12700" y="3085338"/>
                  </a:lnTo>
                  <a:lnTo>
                    <a:pt x="6350" y="3085338"/>
                  </a:lnTo>
                  <a:lnTo>
                    <a:pt x="12700" y="3085338"/>
                  </a:lnTo>
                  <a:cubicBezTo>
                    <a:pt x="12700" y="3112135"/>
                    <a:pt x="34544" y="3133979"/>
                    <a:pt x="61468" y="3133979"/>
                  </a:cubicBezTo>
                  <a:lnTo>
                    <a:pt x="21771863" y="3133979"/>
                  </a:lnTo>
                  <a:cubicBezTo>
                    <a:pt x="21798787" y="3133979"/>
                    <a:pt x="21820631" y="3112262"/>
                    <a:pt x="21820631" y="3085338"/>
                  </a:cubicBezTo>
                  <a:lnTo>
                    <a:pt x="21820631" y="61341"/>
                  </a:lnTo>
                  <a:cubicBezTo>
                    <a:pt x="21820631" y="34544"/>
                    <a:pt x="21798787" y="12700"/>
                    <a:pt x="21771863" y="12700"/>
                  </a:cubicBezTo>
                  <a:lnTo>
                    <a:pt x="61468" y="12700"/>
                  </a:lnTo>
                  <a:lnTo>
                    <a:pt x="61468" y="6350"/>
                  </a:lnTo>
                  <a:lnTo>
                    <a:pt x="61468" y="12700"/>
                  </a:lnTo>
                  <a:cubicBezTo>
                    <a:pt x="34544" y="12700"/>
                    <a:pt x="12700" y="34417"/>
                    <a:pt x="12700" y="61341"/>
                  </a:cubicBez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86" name="TextBox 17"/>
          <p:cNvSpPr/>
          <p:nvPr/>
        </p:nvSpPr>
        <p:spPr>
          <a:xfrm>
            <a:off x="1245600" y="7195680"/>
            <a:ext cx="659880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100" spc="-1" strike="noStrike">
                <a:solidFill>
                  <a:srgbClr val="d6e5ef"/>
                </a:solidFill>
                <a:latin typeface="Roboto"/>
                <a:ea typeface="Roboto"/>
              </a:rPr>
              <a:t>Case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18"/>
          <p:cNvSpPr/>
          <p:nvPr/>
        </p:nvSpPr>
        <p:spPr>
          <a:xfrm>
            <a:off x="8403480" y="7195680"/>
            <a:ext cx="403740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100" spc="-1" strike="noStrike">
                <a:solidFill>
                  <a:srgbClr val="d6e5ef"/>
                </a:solidFill>
                <a:latin typeface="Roboto"/>
                <a:ea typeface="Roboto"/>
              </a:rPr>
              <a:t>Warp-only IoU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19"/>
          <p:cNvSpPr/>
          <p:nvPr/>
        </p:nvSpPr>
        <p:spPr>
          <a:xfrm>
            <a:off x="12999960" y="7195680"/>
            <a:ext cx="404244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100" spc="-1" strike="noStrike">
                <a:solidFill>
                  <a:srgbClr val="d6e5ef"/>
                </a:solidFill>
                <a:latin typeface="Roboto"/>
                <a:ea typeface="Roboto"/>
              </a:rPr>
              <a:t>Warp-only F1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20"/>
          <p:cNvSpPr/>
          <p:nvPr/>
        </p:nvSpPr>
        <p:spPr>
          <a:xfrm>
            <a:off x="1245600" y="7976160"/>
            <a:ext cx="659880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100" spc="-1" strike="noStrike">
                <a:solidFill>
                  <a:srgbClr val="d6e5ef"/>
                </a:solidFill>
                <a:latin typeface="Roboto"/>
                <a:ea typeface="Roboto"/>
              </a:rPr>
              <a:t>GT 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21"/>
          <p:cNvSpPr/>
          <p:nvPr/>
        </p:nvSpPr>
        <p:spPr>
          <a:xfrm>
            <a:off x="8403480" y="7976160"/>
            <a:ext cx="403740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100" spc="-1" strike="noStrike">
                <a:solidFill>
                  <a:srgbClr val="d6e5ef"/>
                </a:solidFill>
                <a:latin typeface="Roboto"/>
                <a:ea typeface="Roboto"/>
              </a:rPr>
              <a:t>0.615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22"/>
          <p:cNvSpPr/>
          <p:nvPr/>
        </p:nvSpPr>
        <p:spPr>
          <a:xfrm>
            <a:off x="12999960" y="7976160"/>
            <a:ext cx="404244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100" spc="-1" strike="noStrike">
                <a:solidFill>
                  <a:srgbClr val="d6e5ef"/>
                </a:solidFill>
                <a:latin typeface="Roboto"/>
                <a:ea typeface="Roboto"/>
              </a:rPr>
              <a:t>0.704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23"/>
          <p:cNvSpPr/>
          <p:nvPr/>
        </p:nvSpPr>
        <p:spPr>
          <a:xfrm>
            <a:off x="1245600" y="8756280"/>
            <a:ext cx="659880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100" spc="-1" strike="noStrike">
                <a:solidFill>
                  <a:srgbClr val="d6e5ef"/>
                </a:solidFill>
                <a:latin typeface="Roboto"/>
                <a:ea typeface="Roboto"/>
              </a:rPr>
              <a:t>I-Frame Pred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24"/>
          <p:cNvSpPr/>
          <p:nvPr/>
        </p:nvSpPr>
        <p:spPr>
          <a:xfrm>
            <a:off x="8403480" y="8756280"/>
            <a:ext cx="403740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100" spc="-1" strike="noStrike">
                <a:solidFill>
                  <a:srgbClr val="d6e5ef"/>
                </a:solidFill>
                <a:latin typeface="Roboto"/>
                <a:ea typeface="Roboto"/>
              </a:rPr>
              <a:t>0.503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25"/>
          <p:cNvSpPr/>
          <p:nvPr/>
        </p:nvSpPr>
        <p:spPr>
          <a:xfrm>
            <a:off x="12999960" y="8756280"/>
            <a:ext cx="404244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100" spc="-1" strike="noStrike">
                <a:solidFill>
                  <a:srgbClr val="d6e5ef"/>
                </a:solidFill>
                <a:latin typeface="Roboto"/>
                <a:ea typeface="Roboto"/>
              </a:rPr>
              <a:t>0.623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roup 2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96" name="Freeform 3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71b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7" name="Group 4"/>
          <p:cNvGrpSpPr/>
          <p:nvPr/>
        </p:nvGrpSpPr>
        <p:grpSpPr>
          <a:xfrm>
            <a:off x="0" y="0"/>
            <a:ext cx="18287640" cy="10286640"/>
            <a:chOff x="0" y="0"/>
            <a:chExt cx="18287640" cy="10286640"/>
          </a:xfrm>
        </p:grpSpPr>
        <p:sp>
          <p:nvSpPr>
            <p:cNvPr id="198" name="Freeform 5"/>
            <p:cNvSpPr/>
            <p:nvPr/>
          </p:nvSpPr>
          <p:spPr>
            <a:xfrm>
              <a:off x="0" y="0"/>
              <a:ext cx="18287640" cy="10286640"/>
            </a:xfrm>
            <a:custGeom>
              <a:avLst/>
              <a:gdLst>
                <a:gd name="textAreaLeft" fmla="*/ 0 w 18287640"/>
                <a:gd name="textAreaRight" fmla="*/ 18288000 w 18287640"/>
                <a:gd name="textAreaTop" fmla="*/ 0 h 10286640"/>
                <a:gd name="textAreaBottom" fmla="*/ 10287000 h 10286640"/>
              </a:gdLst>
              <a:ahLst/>
              <a:rect l="textAreaLeft" t="textAreaTop" r="textAreaRight" b="textAreaBottom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2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99" name="TextBox 6"/>
          <p:cNvSpPr/>
          <p:nvPr/>
        </p:nvSpPr>
        <p:spPr>
          <a:xfrm>
            <a:off x="992160" y="2664000"/>
            <a:ext cx="7088040" cy="87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6900"/>
              </a:lnSpc>
            </a:pPr>
            <a:r>
              <a:rPr b="0" lang="en-US" sz="5500" spc="-1" strike="noStrike">
                <a:solidFill>
                  <a:srgbClr val="76b9ff"/>
                </a:solidFill>
                <a:latin typeface="Roboto Slab"/>
                <a:ea typeface="Roboto Slab"/>
              </a:rPr>
              <a:t>Novel Contributions</a:t>
            </a:r>
            <a:endParaRPr b="0" lang="en-US" sz="55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0" name="Group 7"/>
          <p:cNvGrpSpPr/>
          <p:nvPr/>
        </p:nvGrpSpPr>
        <p:grpSpPr>
          <a:xfrm>
            <a:off x="973080" y="4561560"/>
            <a:ext cx="8047800" cy="3042000"/>
            <a:chOff x="973080" y="4561560"/>
            <a:chExt cx="8047800" cy="3042000"/>
          </a:xfrm>
        </p:grpSpPr>
        <p:sp>
          <p:nvSpPr>
            <p:cNvPr id="201" name="Freeform 8"/>
            <p:cNvSpPr/>
            <p:nvPr/>
          </p:nvSpPr>
          <p:spPr>
            <a:xfrm>
              <a:off x="992160" y="4580640"/>
              <a:ext cx="8009640" cy="3003840"/>
            </a:xfrm>
            <a:custGeom>
              <a:avLst/>
              <a:gdLst>
                <a:gd name="textAreaLeft" fmla="*/ 0 w 8009640"/>
                <a:gd name="textAreaRight" fmla="*/ 8010000 w 8009640"/>
                <a:gd name="textAreaTop" fmla="*/ 0 h 3003840"/>
                <a:gd name="textAreaBottom" fmla="*/ 3004200 h 3003840"/>
              </a:gdLst>
              <a:ahLst/>
              <a:rect l="textAreaLeft" t="textAreaTop" r="textAreaRight" b="textAreaBottom"/>
              <a:pathLst>
                <a:path w="10679938" h="4005707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10434193" y="0"/>
                  </a:lnTo>
                  <a:cubicBezTo>
                    <a:pt x="10569956" y="0"/>
                    <a:pt x="10679938" y="109220"/>
                    <a:pt x="10679938" y="243840"/>
                  </a:cubicBezTo>
                  <a:lnTo>
                    <a:pt x="10679938" y="3761867"/>
                  </a:lnTo>
                  <a:cubicBezTo>
                    <a:pt x="10679938" y="3896487"/>
                    <a:pt x="10569956" y="4005707"/>
                    <a:pt x="10434193" y="4005707"/>
                  </a:cubicBezTo>
                  <a:lnTo>
                    <a:pt x="245745" y="4005707"/>
                  </a:lnTo>
                  <a:cubicBezTo>
                    <a:pt x="109982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202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2" name="Freeform 9"/>
            <p:cNvSpPr/>
            <p:nvPr/>
          </p:nvSpPr>
          <p:spPr>
            <a:xfrm>
              <a:off x="973080" y="4561560"/>
              <a:ext cx="8047800" cy="3042000"/>
            </a:xfrm>
            <a:custGeom>
              <a:avLst/>
              <a:gdLst>
                <a:gd name="textAreaLeft" fmla="*/ 0 w 8047800"/>
                <a:gd name="textAreaRight" fmla="*/ 8048160 w 8047800"/>
                <a:gd name="textAreaTop" fmla="*/ 0 h 3042000"/>
                <a:gd name="textAreaBottom" fmla="*/ 3042360 h 3042000"/>
              </a:gdLst>
              <a:ahLst/>
              <a:rect l="textAreaLeft" t="textAreaTop" r="textAreaRight" b="textAreaBottom"/>
              <a:pathLst>
                <a:path w="10730738" h="4056507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10459593" y="0"/>
                  </a:lnTo>
                  <a:lnTo>
                    <a:pt x="10459593" y="25400"/>
                  </a:lnTo>
                  <a:lnTo>
                    <a:pt x="10459593" y="0"/>
                  </a:lnTo>
                  <a:cubicBezTo>
                    <a:pt x="10609200" y="0"/>
                    <a:pt x="10730738" y="120396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3787267"/>
                  </a:lnTo>
                  <a:lnTo>
                    <a:pt x="10705338" y="3787267"/>
                  </a:lnTo>
                  <a:lnTo>
                    <a:pt x="10730738" y="3787267"/>
                  </a:lnTo>
                  <a:cubicBezTo>
                    <a:pt x="10730738" y="3936111"/>
                    <a:pt x="10609200" y="4056507"/>
                    <a:pt x="10459593" y="4056507"/>
                  </a:cubicBezTo>
                  <a:lnTo>
                    <a:pt x="10459593" y="4031107"/>
                  </a:lnTo>
                  <a:lnTo>
                    <a:pt x="10459593" y="4056507"/>
                  </a:lnTo>
                  <a:lnTo>
                    <a:pt x="271145" y="4056507"/>
                  </a:lnTo>
                  <a:lnTo>
                    <a:pt x="271145" y="4031107"/>
                  </a:lnTo>
                  <a:lnTo>
                    <a:pt x="271145" y="4056507"/>
                  </a:lnTo>
                  <a:cubicBezTo>
                    <a:pt x="121539" y="4056507"/>
                    <a:pt x="0" y="3936111"/>
                    <a:pt x="0" y="3787267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787267"/>
                  </a:lnTo>
                  <a:lnTo>
                    <a:pt x="25400" y="3787267"/>
                  </a:lnTo>
                  <a:lnTo>
                    <a:pt x="50800" y="3787267"/>
                  </a:lnTo>
                  <a:cubicBezTo>
                    <a:pt x="50800" y="3907663"/>
                    <a:pt x="149225" y="4005707"/>
                    <a:pt x="271145" y="4005707"/>
                  </a:cubicBezTo>
                  <a:lnTo>
                    <a:pt x="10459593" y="4005707"/>
                  </a:lnTo>
                  <a:cubicBezTo>
                    <a:pt x="10581513" y="4005707"/>
                    <a:pt x="10679938" y="3907790"/>
                    <a:pt x="10679938" y="3787267"/>
                  </a:cubicBezTo>
                  <a:lnTo>
                    <a:pt x="10679938" y="269240"/>
                  </a:lnTo>
                  <a:cubicBezTo>
                    <a:pt x="10679938" y="148844"/>
                    <a:pt x="10581513" y="50800"/>
                    <a:pt x="10459593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585f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3" name="Group 10"/>
          <p:cNvGrpSpPr/>
          <p:nvPr/>
        </p:nvGrpSpPr>
        <p:grpSpPr>
          <a:xfrm>
            <a:off x="992160" y="4542480"/>
            <a:ext cx="8009640" cy="151920"/>
            <a:chOff x="992160" y="4542480"/>
            <a:chExt cx="8009640" cy="151920"/>
          </a:xfrm>
        </p:grpSpPr>
        <p:sp>
          <p:nvSpPr>
            <p:cNvPr id="204" name="Freeform 11"/>
            <p:cNvSpPr/>
            <p:nvPr/>
          </p:nvSpPr>
          <p:spPr>
            <a:xfrm>
              <a:off x="992160" y="4542480"/>
              <a:ext cx="8009640" cy="151920"/>
            </a:xfrm>
            <a:custGeom>
              <a:avLst/>
              <a:gdLst>
                <a:gd name="textAreaLeft" fmla="*/ 0 w 8009640"/>
                <a:gd name="textAreaRight" fmla="*/ 8010000 w 800964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10679938" h="203200">
                  <a:moveTo>
                    <a:pt x="0" y="0"/>
                  </a:moveTo>
                  <a:lnTo>
                    <a:pt x="10679938" y="0"/>
                  </a:lnTo>
                  <a:lnTo>
                    <a:pt x="10679938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5" name="Group 12"/>
          <p:cNvGrpSpPr/>
          <p:nvPr/>
        </p:nvGrpSpPr>
        <p:grpSpPr>
          <a:xfrm>
            <a:off x="4572000" y="4155120"/>
            <a:ext cx="850320" cy="850320"/>
            <a:chOff x="4572000" y="4155120"/>
            <a:chExt cx="850320" cy="850320"/>
          </a:xfrm>
        </p:grpSpPr>
        <p:sp>
          <p:nvSpPr>
            <p:cNvPr id="206" name="Freeform 13"/>
            <p:cNvSpPr/>
            <p:nvPr/>
          </p:nvSpPr>
          <p:spPr>
            <a:xfrm>
              <a:off x="4572000" y="4155120"/>
              <a:ext cx="850320" cy="850320"/>
            </a:xfrm>
            <a:custGeom>
              <a:avLst/>
              <a:gdLst>
                <a:gd name="textAreaLeft" fmla="*/ 0 w 850320"/>
                <a:gd name="textAreaRight" fmla="*/ 850680 w 850320"/>
                <a:gd name="textAreaTop" fmla="*/ 0 h 850320"/>
                <a:gd name="textAreaBottom" fmla="*/ 850680 h 850320"/>
              </a:gdLst>
              <a:ahLst/>
              <a:rect l="textAreaLeft" t="textAreaTop" r="textAreaRight" b="textAreaBottom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07" name="Group 14"/>
          <p:cNvGrpSpPr/>
          <p:nvPr/>
        </p:nvGrpSpPr>
        <p:grpSpPr>
          <a:xfrm>
            <a:off x="4826880" y="4367880"/>
            <a:ext cx="339840" cy="424800"/>
            <a:chOff x="4826880" y="4367880"/>
            <a:chExt cx="339840" cy="424800"/>
          </a:xfrm>
        </p:grpSpPr>
        <p:sp>
          <p:nvSpPr>
            <p:cNvPr id="208" name="Freeform 15"/>
            <p:cNvSpPr/>
            <p:nvPr/>
          </p:nvSpPr>
          <p:spPr>
            <a:xfrm>
              <a:off x="4826880" y="4367880"/>
              <a:ext cx="339840" cy="424800"/>
            </a:xfrm>
            <a:custGeom>
              <a:avLst/>
              <a:gdLst>
                <a:gd name="textAreaLeft" fmla="*/ 0 w 339840"/>
                <a:gd name="textAreaRight" fmla="*/ 340200 w 339840"/>
                <a:gd name="textAreaTop" fmla="*/ 0 h 424800"/>
                <a:gd name="textAreaBottom" fmla="*/ 425160 h 424800"/>
              </a:gdLst>
              <a:ahLst/>
              <a:rect l="textAreaLeft" t="textAreaTop" r="textAreaRight" b="textAreaBottom"/>
              <a:pathLst>
                <a:path w="453629" h="566936">
                  <a:moveTo>
                    <a:pt x="0" y="0"/>
                  </a:moveTo>
                  <a:lnTo>
                    <a:pt x="453629" y="0"/>
                  </a:lnTo>
                  <a:lnTo>
                    <a:pt x="453629" y="566936"/>
                  </a:lnTo>
                  <a:lnTo>
                    <a:pt x="0" y="566936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" name="TextBox 16"/>
            <p:cNvSpPr/>
            <p:nvPr/>
          </p:nvSpPr>
          <p:spPr>
            <a:xfrm>
              <a:off x="4826880" y="4367880"/>
              <a:ext cx="339840" cy="42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3121"/>
                </a:lnSpc>
              </a:pPr>
              <a:r>
                <a:rPr b="0" lang="en-US" sz="2600" spc="-1" strike="noStrike">
                  <a:solidFill>
                    <a:srgbClr val="000000"/>
                  </a:solidFill>
                  <a:latin typeface="Roboto Slab"/>
                  <a:ea typeface="Roboto Slab"/>
                </a:rPr>
                <a:t>1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0" name="TextBox 17"/>
          <p:cNvSpPr/>
          <p:nvPr/>
        </p:nvSpPr>
        <p:spPr>
          <a:xfrm>
            <a:off x="1314000" y="5279760"/>
            <a:ext cx="425412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700" spc="-1" strike="noStrike">
                <a:solidFill>
                  <a:srgbClr val="d6e5ef"/>
                </a:solidFill>
                <a:latin typeface="Roboto Slab"/>
                <a:ea typeface="Roboto Slab"/>
              </a:rPr>
              <a:t>Computational Efficiency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18"/>
          <p:cNvSpPr/>
          <p:nvPr/>
        </p:nvSpPr>
        <p:spPr>
          <a:xfrm>
            <a:off x="1314000" y="5806800"/>
            <a:ext cx="7366320" cy="13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Heavy model inference is run only on I-frames, while B-frames use lightweight warping and correction to reduce compute cost.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2" name="Group 19"/>
          <p:cNvGrpSpPr/>
          <p:nvPr/>
        </p:nvGrpSpPr>
        <p:grpSpPr>
          <a:xfrm>
            <a:off x="9266760" y="4561560"/>
            <a:ext cx="8047800" cy="3042000"/>
            <a:chOff x="9266760" y="4561560"/>
            <a:chExt cx="8047800" cy="3042000"/>
          </a:xfrm>
        </p:grpSpPr>
        <p:sp>
          <p:nvSpPr>
            <p:cNvPr id="213" name="Freeform 20"/>
            <p:cNvSpPr/>
            <p:nvPr/>
          </p:nvSpPr>
          <p:spPr>
            <a:xfrm>
              <a:off x="9285840" y="4580640"/>
              <a:ext cx="8009640" cy="3003840"/>
            </a:xfrm>
            <a:custGeom>
              <a:avLst/>
              <a:gdLst>
                <a:gd name="textAreaLeft" fmla="*/ 0 w 8009640"/>
                <a:gd name="textAreaRight" fmla="*/ 8010000 w 8009640"/>
                <a:gd name="textAreaTop" fmla="*/ 0 h 3003840"/>
                <a:gd name="textAreaBottom" fmla="*/ 3004200 h 3003840"/>
              </a:gdLst>
              <a:ahLst/>
              <a:rect l="textAreaLeft" t="textAreaTop" r="textAreaRight" b="textAreaBottom"/>
              <a:pathLst>
                <a:path w="10680064" h="4005707">
                  <a:moveTo>
                    <a:pt x="0" y="243840"/>
                  </a:moveTo>
                  <a:cubicBezTo>
                    <a:pt x="0" y="109220"/>
                    <a:pt x="109982" y="0"/>
                    <a:pt x="245745" y="0"/>
                  </a:cubicBezTo>
                  <a:lnTo>
                    <a:pt x="10434320" y="0"/>
                  </a:lnTo>
                  <a:cubicBezTo>
                    <a:pt x="10570083" y="0"/>
                    <a:pt x="10680064" y="109220"/>
                    <a:pt x="10680064" y="243840"/>
                  </a:cubicBezTo>
                  <a:lnTo>
                    <a:pt x="10680064" y="3761867"/>
                  </a:lnTo>
                  <a:cubicBezTo>
                    <a:pt x="10680064" y="3896487"/>
                    <a:pt x="10570083" y="4005707"/>
                    <a:pt x="10434320" y="4005707"/>
                  </a:cubicBezTo>
                  <a:lnTo>
                    <a:pt x="245745" y="4005707"/>
                  </a:lnTo>
                  <a:cubicBezTo>
                    <a:pt x="109982" y="4005707"/>
                    <a:pt x="0" y="3896487"/>
                    <a:pt x="0" y="3761867"/>
                  </a:cubicBezTo>
                  <a:close/>
                </a:path>
              </a:pathLst>
            </a:custGeom>
            <a:solidFill>
              <a:srgbClr val="202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4" name="Freeform 21"/>
            <p:cNvSpPr/>
            <p:nvPr/>
          </p:nvSpPr>
          <p:spPr>
            <a:xfrm>
              <a:off x="9266760" y="4561560"/>
              <a:ext cx="8047800" cy="3042000"/>
            </a:xfrm>
            <a:custGeom>
              <a:avLst/>
              <a:gdLst>
                <a:gd name="textAreaLeft" fmla="*/ 0 w 8047800"/>
                <a:gd name="textAreaRight" fmla="*/ 8048160 w 8047800"/>
                <a:gd name="textAreaTop" fmla="*/ 0 h 3042000"/>
                <a:gd name="textAreaBottom" fmla="*/ 3042360 h 3042000"/>
              </a:gdLst>
              <a:ahLst/>
              <a:rect l="textAreaLeft" t="textAreaTop" r="textAreaRight" b="textAreaBottom"/>
              <a:pathLst>
                <a:path w="10730864" h="4056507">
                  <a:moveTo>
                    <a:pt x="0" y="269240"/>
                  </a:moveTo>
                  <a:cubicBezTo>
                    <a:pt x="0" y="120396"/>
                    <a:pt x="121539" y="0"/>
                    <a:pt x="271145" y="0"/>
                  </a:cubicBezTo>
                  <a:lnTo>
                    <a:pt x="10459720" y="0"/>
                  </a:lnTo>
                  <a:lnTo>
                    <a:pt x="10459720" y="25400"/>
                  </a:lnTo>
                  <a:lnTo>
                    <a:pt x="10459720" y="0"/>
                  </a:lnTo>
                  <a:cubicBezTo>
                    <a:pt x="10609326" y="0"/>
                    <a:pt x="10730864" y="120396"/>
                    <a:pt x="10730864" y="269240"/>
                  </a:cubicBezTo>
                  <a:lnTo>
                    <a:pt x="10705464" y="269240"/>
                  </a:lnTo>
                  <a:lnTo>
                    <a:pt x="10730864" y="269240"/>
                  </a:lnTo>
                  <a:lnTo>
                    <a:pt x="10730864" y="3787267"/>
                  </a:lnTo>
                  <a:lnTo>
                    <a:pt x="10705464" y="3787267"/>
                  </a:lnTo>
                  <a:lnTo>
                    <a:pt x="10730864" y="3787267"/>
                  </a:lnTo>
                  <a:cubicBezTo>
                    <a:pt x="10730864" y="3936111"/>
                    <a:pt x="10609326" y="4056507"/>
                    <a:pt x="10459720" y="4056507"/>
                  </a:cubicBezTo>
                  <a:lnTo>
                    <a:pt x="10459720" y="4031107"/>
                  </a:lnTo>
                  <a:lnTo>
                    <a:pt x="10459720" y="4056507"/>
                  </a:lnTo>
                  <a:lnTo>
                    <a:pt x="271145" y="4056507"/>
                  </a:lnTo>
                  <a:lnTo>
                    <a:pt x="271145" y="4031107"/>
                  </a:lnTo>
                  <a:lnTo>
                    <a:pt x="271145" y="4056507"/>
                  </a:lnTo>
                  <a:cubicBezTo>
                    <a:pt x="121539" y="4056507"/>
                    <a:pt x="0" y="3936111"/>
                    <a:pt x="0" y="3787267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3787267"/>
                  </a:lnTo>
                  <a:lnTo>
                    <a:pt x="25400" y="3787267"/>
                  </a:lnTo>
                  <a:lnTo>
                    <a:pt x="50800" y="3787267"/>
                  </a:lnTo>
                  <a:cubicBezTo>
                    <a:pt x="50800" y="3907663"/>
                    <a:pt x="149225" y="4005707"/>
                    <a:pt x="271145" y="4005707"/>
                  </a:cubicBezTo>
                  <a:lnTo>
                    <a:pt x="10459720" y="4005707"/>
                  </a:lnTo>
                  <a:cubicBezTo>
                    <a:pt x="10581639" y="4005707"/>
                    <a:pt x="10680064" y="3907790"/>
                    <a:pt x="10680064" y="3787267"/>
                  </a:cubicBezTo>
                  <a:lnTo>
                    <a:pt x="10680064" y="269240"/>
                  </a:lnTo>
                  <a:cubicBezTo>
                    <a:pt x="10680064" y="148844"/>
                    <a:pt x="10581639" y="50800"/>
                    <a:pt x="10459720" y="50800"/>
                  </a:cubicBezTo>
                  <a:lnTo>
                    <a:pt x="271145" y="50800"/>
                  </a:lnTo>
                  <a:lnTo>
                    <a:pt x="271145" y="25400"/>
                  </a:lnTo>
                  <a:lnTo>
                    <a:pt x="271145" y="50800"/>
                  </a:lnTo>
                  <a:cubicBezTo>
                    <a:pt x="149225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585f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15" name="Group 22"/>
          <p:cNvGrpSpPr/>
          <p:nvPr/>
        </p:nvGrpSpPr>
        <p:grpSpPr>
          <a:xfrm>
            <a:off x="9285840" y="4542480"/>
            <a:ext cx="8009640" cy="151920"/>
            <a:chOff x="9285840" y="4542480"/>
            <a:chExt cx="8009640" cy="151920"/>
          </a:xfrm>
        </p:grpSpPr>
        <p:sp>
          <p:nvSpPr>
            <p:cNvPr id="216" name="Freeform 23"/>
            <p:cNvSpPr/>
            <p:nvPr/>
          </p:nvSpPr>
          <p:spPr>
            <a:xfrm>
              <a:off x="9285840" y="4542480"/>
              <a:ext cx="8009640" cy="151920"/>
            </a:xfrm>
            <a:custGeom>
              <a:avLst/>
              <a:gdLst>
                <a:gd name="textAreaLeft" fmla="*/ 0 w 8009640"/>
                <a:gd name="textAreaRight" fmla="*/ 8010000 w 8009640"/>
                <a:gd name="textAreaTop" fmla="*/ 0 h 151920"/>
                <a:gd name="textAreaBottom" fmla="*/ 152280 h 151920"/>
              </a:gdLst>
              <a:ahLst/>
              <a:rect l="textAreaLeft" t="textAreaTop" r="textAreaRight" b="textAreaBottom"/>
              <a:pathLst>
                <a:path w="10680065" h="203200">
                  <a:moveTo>
                    <a:pt x="0" y="0"/>
                  </a:moveTo>
                  <a:lnTo>
                    <a:pt x="10680065" y="0"/>
                  </a:lnTo>
                  <a:lnTo>
                    <a:pt x="1068006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7" name="Group 24"/>
          <p:cNvGrpSpPr/>
          <p:nvPr/>
        </p:nvGrpSpPr>
        <p:grpSpPr>
          <a:xfrm>
            <a:off x="12865320" y="4155120"/>
            <a:ext cx="850320" cy="850320"/>
            <a:chOff x="12865320" y="4155120"/>
            <a:chExt cx="850320" cy="850320"/>
          </a:xfrm>
        </p:grpSpPr>
        <p:sp>
          <p:nvSpPr>
            <p:cNvPr id="218" name="Freeform 25"/>
            <p:cNvSpPr/>
            <p:nvPr/>
          </p:nvSpPr>
          <p:spPr>
            <a:xfrm>
              <a:off x="12865320" y="4155120"/>
              <a:ext cx="850320" cy="850320"/>
            </a:xfrm>
            <a:custGeom>
              <a:avLst/>
              <a:gdLst>
                <a:gd name="textAreaLeft" fmla="*/ 0 w 850320"/>
                <a:gd name="textAreaRight" fmla="*/ 850680 w 850320"/>
                <a:gd name="textAreaTop" fmla="*/ 0 h 850320"/>
                <a:gd name="textAreaBottom" fmla="*/ 850680 h 850320"/>
              </a:gdLst>
              <a:ahLst/>
              <a:rect l="textAreaLeft" t="textAreaTop" r="textAreaRight" b="textAreaBottom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9" name="Group 26"/>
          <p:cNvGrpSpPr/>
          <p:nvPr/>
        </p:nvGrpSpPr>
        <p:grpSpPr>
          <a:xfrm>
            <a:off x="13120560" y="4367880"/>
            <a:ext cx="339840" cy="424800"/>
            <a:chOff x="13120560" y="4367880"/>
            <a:chExt cx="339840" cy="424800"/>
          </a:xfrm>
        </p:grpSpPr>
        <p:sp>
          <p:nvSpPr>
            <p:cNvPr id="220" name="Freeform 27"/>
            <p:cNvSpPr/>
            <p:nvPr/>
          </p:nvSpPr>
          <p:spPr>
            <a:xfrm>
              <a:off x="13120560" y="4367880"/>
              <a:ext cx="339840" cy="424800"/>
            </a:xfrm>
            <a:custGeom>
              <a:avLst/>
              <a:gdLst>
                <a:gd name="textAreaLeft" fmla="*/ 0 w 339840"/>
                <a:gd name="textAreaRight" fmla="*/ 340200 w 339840"/>
                <a:gd name="textAreaTop" fmla="*/ 0 h 424800"/>
                <a:gd name="textAreaBottom" fmla="*/ 425160 h 424800"/>
              </a:gdLst>
              <a:ahLst/>
              <a:rect l="textAreaLeft" t="textAreaTop" r="textAreaRight" b="textAreaBottom"/>
              <a:pathLst>
                <a:path w="453629" h="566936">
                  <a:moveTo>
                    <a:pt x="0" y="0"/>
                  </a:moveTo>
                  <a:lnTo>
                    <a:pt x="453629" y="0"/>
                  </a:lnTo>
                  <a:lnTo>
                    <a:pt x="453629" y="566936"/>
                  </a:lnTo>
                  <a:lnTo>
                    <a:pt x="0" y="566936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" name="TextBox 28"/>
            <p:cNvSpPr/>
            <p:nvPr/>
          </p:nvSpPr>
          <p:spPr>
            <a:xfrm>
              <a:off x="13120560" y="4367880"/>
              <a:ext cx="339840" cy="424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 defTabSz="914400">
                <a:lnSpc>
                  <a:spcPts val="3121"/>
                </a:lnSpc>
              </a:pPr>
              <a:r>
                <a:rPr b="0" lang="en-US" sz="2600" spc="-1" strike="noStrike">
                  <a:solidFill>
                    <a:srgbClr val="000000"/>
                  </a:solidFill>
                  <a:latin typeface="Roboto Slab"/>
                  <a:ea typeface="Roboto Slab"/>
                </a:rPr>
                <a:t>2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22" name="TextBox 29"/>
          <p:cNvSpPr/>
          <p:nvPr/>
        </p:nvSpPr>
        <p:spPr>
          <a:xfrm>
            <a:off x="9607320" y="5279760"/>
            <a:ext cx="3543840" cy="43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399"/>
              </a:lnSpc>
            </a:pPr>
            <a:r>
              <a:rPr b="0" lang="en-US" sz="2700" spc="-1" strike="noStrike">
                <a:solidFill>
                  <a:srgbClr val="d6e5ef"/>
                </a:solidFill>
                <a:latin typeface="Roboto Slab"/>
                <a:ea typeface="Roboto Slab"/>
              </a:rPr>
              <a:t>Occlusion Handling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30"/>
          <p:cNvSpPr/>
          <p:nvPr/>
        </p:nvSpPr>
        <p:spPr>
          <a:xfrm>
            <a:off x="9607320" y="5806800"/>
            <a:ext cx="7366320" cy="88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01"/>
              </a:lnSpc>
            </a:pPr>
            <a:r>
              <a:rPr b="0" lang="en-US" sz="2200" spc="-1" strike="noStrike">
                <a:solidFill>
                  <a:srgbClr val="d6e5ef"/>
                </a:solidFill>
                <a:latin typeface="Roboto"/>
                <a:ea typeface="Roboto"/>
              </a:rPr>
              <a:t>Periodic I-frame resets rediscover occluded objects and prevent permanent tracking failure.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" descr=""/>
          <p:cNvPicPr/>
          <p:nvPr/>
        </p:nvPicPr>
        <p:blipFill>
          <a:blip r:embed="rId1"/>
          <a:stretch/>
        </p:blipFill>
        <p:spPr>
          <a:xfrm>
            <a:off x="33840" y="0"/>
            <a:ext cx="18254160" cy="1030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DAHJomQTJf8</dc:identifier>
  <dc:language>en-US</dc:language>
  <cp:lastModifiedBy/>
  <dcterms:modified xsi:type="dcterms:W3CDTF">2026-05-16T15:34:12Z</dcterms:modified>
  <cp:revision>2</cp:revision>
  <dc:subject/>
  <dc:title>SegWrap.pptx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